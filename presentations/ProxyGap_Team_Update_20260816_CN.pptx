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a8c359d9237416a" /><Relationship Type="http://schemas.openxmlformats.org/officeDocument/2006/relationships/extended-properties" Target="/docProps/app.xml" Id="R5e8f83a0063e482b" /><Relationship Type="http://schemas.openxmlformats.org/officeDocument/2006/relationships/officeDocument" Target="/ppt/presentation.xml" Id="R357e9b80bc5c4a7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7a9fe17884e45da"/>
  </p:sldMasterIdLst>
  <p:notesMasterIdLst>
    <p:notesMasterId xmlns:r="http://schemas.openxmlformats.org/officeDocument/2006/relationships" r:id="R02b4d49ec8d04e52"/>
  </p:notesMasterIdLst>
  <p:sldIdLst>
    <p:sldId xmlns:r="http://schemas.openxmlformats.org/officeDocument/2006/relationships" id="256" r:id="Re0de6cea63d54e93"/>
    <p:sldId xmlns:r="http://schemas.openxmlformats.org/officeDocument/2006/relationships" id="257" r:id="Rda2e6cbdb93c48ad"/>
    <p:sldId xmlns:r="http://schemas.openxmlformats.org/officeDocument/2006/relationships" id="258" r:id="R8adbf6d2fe5a4762"/>
    <p:sldId xmlns:r="http://schemas.openxmlformats.org/officeDocument/2006/relationships" id="259" r:id="Ra2619116c24f4406"/>
    <p:sldId xmlns:r="http://schemas.openxmlformats.org/officeDocument/2006/relationships" id="260" r:id="R8ebbbddaadcf4286"/>
    <p:sldId xmlns:r="http://schemas.openxmlformats.org/officeDocument/2006/relationships" id="261" r:id="R7853959224254e87"/>
    <p:sldId xmlns:r="http://schemas.openxmlformats.org/officeDocument/2006/relationships" id="262" r:id="R61942bb424904108"/>
    <p:sldId xmlns:r="http://schemas.openxmlformats.org/officeDocument/2006/relationships" id="263" r:id="R11be609cdacf4292"/>
    <p:sldId xmlns:r="http://schemas.openxmlformats.org/officeDocument/2006/relationships" id="264" r:id="R2bbe4699edd7413b"/>
    <p:sldId xmlns:r="http://schemas.openxmlformats.org/officeDocument/2006/relationships" id="265" r:id="R083a0c2c25a84d5e"/>
    <p:sldId xmlns:r="http://schemas.openxmlformats.org/officeDocument/2006/relationships" id="266" r:id="R4acf9a7068fd482a"/>
    <p:sldId xmlns:r="http://schemas.openxmlformats.org/officeDocument/2006/relationships" id="267" r:id="Rba583ec64980413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189d4ff9762431f" /><Relationship Type="http://schemas.openxmlformats.org/officeDocument/2006/relationships/slideMaster" Target="/ppt/slideMasters/slideMaster1.xml" Id="Re7a9fe17884e45da" /><Relationship Type="http://schemas.openxmlformats.org/officeDocument/2006/relationships/notesMaster" Target="/ppt/notesMasters/notesMaster1.xml" Id="R02b4d49ec8d04e52" /><Relationship Type="http://schemas.openxmlformats.org/officeDocument/2006/relationships/presProps" Target="/ppt/presProps.xml" Id="Rd7b36032cfd24d51" /><Relationship Type="http://schemas.openxmlformats.org/officeDocument/2006/relationships/tableStyles" Target="/ppt/tableStyles.xml" Id="R93a486d44af34a27" /><Relationship Type="http://schemas.openxmlformats.org/officeDocument/2006/relationships/slide" Target="/ppt/slides/slide1.xml" Id="Re0de6cea63d54e93" /><Relationship Type="http://schemas.openxmlformats.org/officeDocument/2006/relationships/slide" Target="/ppt/slides/slide2.xml" Id="Rda2e6cbdb93c48ad" /><Relationship Type="http://schemas.openxmlformats.org/officeDocument/2006/relationships/slide" Target="/ppt/slides/slide3.xml" Id="R8adbf6d2fe5a4762" /><Relationship Type="http://schemas.openxmlformats.org/officeDocument/2006/relationships/slide" Target="/ppt/slides/slide4.xml" Id="Ra2619116c24f4406" /><Relationship Type="http://schemas.openxmlformats.org/officeDocument/2006/relationships/slide" Target="/ppt/slides/slide5.xml" Id="R8ebbbddaadcf4286" /><Relationship Type="http://schemas.openxmlformats.org/officeDocument/2006/relationships/slide" Target="/ppt/slides/slide6.xml" Id="R7853959224254e87" /><Relationship Type="http://schemas.openxmlformats.org/officeDocument/2006/relationships/slide" Target="/ppt/slides/slide7.xml" Id="R61942bb424904108" /><Relationship Type="http://schemas.openxmlformats.org/officeDocument/2006/relationships/slide" Target="/ppt/slides/slide8.xml" Id="R11be609cdacf4292" /><Relationship Type="http://schemas.openxmlformats.org/officeDocument/2006/relationships/slide" Target="/ppt/slides/slide9.xml" Id="R2bbe4699edd7413b" /><Relationship Type="http://schemas.openxmlformats.org/officeDocument/2006/relationships/slide" Target="/ppt/slides/slide10.xml" Id="R083a0c2c25a84d5e" /><Relationship Type="http://schemas.openxmlformats.org/officeDocument/2006/relationships/slide" Target="/ppt/slides/slide11.xml" Id="R4acf9a7068fd482a" /><Relationship Type="http://schemas.openxmlformats.org/officeDocument/2006/relationships/slide" Target="/ppt/slides/slide12.xml" Id="Rba583ec64980413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b04a33809874c0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51371d2a0f849f1" /><Relationship Type="http://schemas.openxmlformats.org/officeDocument/2006/relationships/notesMaster" Target="/ppt/notesMasters/notesMaster1.xml" Id="R1e8ce92008a4410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c1d78d1ffab43a0" /><Relationship Type="http://schemas.openxmlformats.org/officeDocument/2006/relationships/notesMaster" Target="/ppt/notesMasters/notesMaster1.xml" Id="R98be89b6e2fc458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8dc65f086b44902" /><Relationship Type="http://schemas.openxmlformats.org/officeDocument/2006/relationships/notesMaster" Target="/ppt/notesMasters/notesMaster1.xml" Id="R40f8bb03e6d24d7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c63b3fc4e0645f8" /><Relationship Type="http://schemas.openxmlformats.org/officeDocument/2006/relationships/notesMaster" Target="/ppt/notesMasters/notesMaster1.xml" Id="R1f88ec6db8ed494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80c978a8dbb46af" /><Relationship Type="http://schemas.openxmlformats.org/officeDocument/2006/relationships/notesMaster" Target="/ppt/notesMasters/notesMaster1.xml" Id="Ra4cf9fa3ad33446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c3cdc742604461b" /><Relationship Type="http://schemas.openxmlformats.org/officeDocument/2006/relationships/notesMaster" Target="/ppt/notesMasters/notesMaster1.xml" Id="R36e0ccb22beb434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d698615afbd4338" /><Relationship Type="http://schemas.openxmlformats.org/officeDocument/2006/relationships/notesMaster" Target="/ppt/notesMasters/notesMaster1.xml" Id="R5e19fd811a1d454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1dce92cc1bf4ebf" /><Relationship Type="http://schemas.openxmlformats.org/officeDocument/2006/relationships/notesMaster" Target="/ppt/notesMasters/notesMaster1.xml" Id="Rf45e21b3d3684ad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3652e1e3ae64039" /><Relationship Type="http://schemas.openxmlformats.org/officeDocument/2006/relationships/notesMaster" Target="/ppt/notesMasters/notesMaster1.xml" Id="R3af04d0b53504b4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db14ffcfb2944cf" /><Relationship Type="http://schemas.openxmlformats.org/officeDocument/2006/relationships/notesMaster" Target="/ppt/notesMasters/notesMaster1.xml" Id="Ra08b7bf2eb5f460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9ff1d3f2a7e4a3b" /><Relationship Type="http://schemas.openxmlformats.org/officeDocument/2006/relationships/notesMaster" Target="/ppt/notesMasters/notesMaster1.xml" Id="Re529d17062d6493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1adfcdfb7f344ea" /><Relationship Type="http://schemas.openxmlformats.org/officeDocument/2006/relationships/notesMaster" Target="/ppt/notesMasters/notesMaster1.xml" Id="Rf0fde884bd6e4a3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封面画面仅提供定性背景。该画面按预定规则选取：公开视频索引第一条记录在 25.05 秒处的固定中点，而不是依据视觉结果挑选。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项目视觉：Ftrack__Ar0__tr41401__ev51401__t1000000.png; step 501/1000; 25.05 s; training seed 41401; evaluation seed 51401; 1,000,000 training steps; PNG SHA-256 F937FD06C91BB9E4D4259753371CAD5728A841CF43EFA2065E8342C1D2CDF099.</a:t>
            </a:r>
          </a:p>
          <a:p xmlns:a="http://schemas.openxmlformats.org/drawingml/2006/main">
            <a:r>
              <a:t>- 公开溯源：results/development_20260816/target_and_action_rate_1m/8_16_trials_3__VIDEO_INDEX.json; source MP4 SHA-256 89CF97B2F513196573F3B9E84D35874190FE5F92A8119BBC4343BC0D2FFB60B0.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项目方向从系数比较转向构念审计，随后再开发范围受限的缓解方案。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项目来源：docs/RESEARCH_DIRECTION_20260816.md.</a:t>
            </a:r>
          </a:p>
          <a:p xmlns:a="http://schemas.openxmlformats.org/drawingml/2006/main">
            <a:r>
              <a:t>- 项目来源：reports/CURRENT_DEVELOPMENT_SYNTHESIS_20260816.md.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本页区分平台任务、优化器面对的标量代理奖励，以及研究者使用的外部诊断指标。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Farama Foundation（无日期），Ant 文档：https://gymnasium.farama.org/environments/mujoco/ant/（访问日期：2026年8月16日）.</a:t>
            </a:r>
          </a:p>
          <a:p xmlns:a="http://schemas.openxmlformats.org/drawingml/2006/main">
            <a:r>
              <a:t>- Skalse et al. (2022): https://proceedings.neurips.cc/paper_files/paper/2022/file/3d719fee332caa23d5038b8a90e81796-Paper-Conference.pdf.</a:t>
            </a:r>
          </a:p>
          <a:p xmlns:a="http://schemas.openxmlformats.org/drawingml/2006/main">
            <a:r>
              <a:t>- 项目来源：docs/INTENDED_BEHAVIOUR_CONTRACT_V2_20260816.md.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预期行为通过项目特定的诊断指标向量进行操作化。相同评估种子用于配对初始条件，但不会增加独立训练重复次数。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项目来源：configs/hybrid_intent_constraint_design_v1_20260816.json.</a:t>
            </a:r>
          </a:p>
          <a:p xmlns:a="http://schemas.openxmlformats.org/drawingml/2006/main">
            <a:r>
              <a:t>- 项目来源：docs/INTENDED_BEHAVIOUR_CONTRACT_V2_20260816.md.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默认奖励所表示的构念窄于项目特定的预期行为契约。只有在复现排序分歧后才测试缓解方案，而不是用缓解测试取代检测。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Farama Foundation（无日期），Ant 文档：https://gymnasium.farama.org/environments/mujoco/ant/（访问日期：2026年8月16日）.</a:t>
            </a:r>
          </a:p>
          <a:p xmlns:a="http://schemas.openxmlformats.org/drawingml/2006/main">
            <a:r>
              <a:t>- Pan, Bhatia and Steinhardt (2022): https://arxiv.org/abs/2201.03544.</a:t>
            </a:r>
          </a:p>
          <a:p xmlns:a="http://schemas.openxmlformats.org/drawingml/2006/main">
            <a:r>
              <a:t>- 项目来源：results/development_20260816/hybrid_guardrail/analysis__jump_contact_gait__jump_contact_gait_summary.json.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每一轮开发只改变有限且已声明的因素，并保留负面结果。本页使用中性动词，因为这些工作属于探索性筛查。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项目来源：docs/TEAM_PROGRESS_UPDATE_20260816.md.</a:t>
            </a:r>
          </a:p>
          <a:p xmlns:a="http://schemas.openxmlformats.org/drawingml/2006/main">
            <a:r>
              <a:t>- 项目来源：reports/CURRENT_DEVELOPMENT_SYNTHESIS_20260816.md.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该回放与记录的回合在浮点容差内一致。腾空事件定义为根部竖直速度至少达到 1.25 m/s。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项目来源：results/development_20260816/hybrid_guardrail/analysis__jump_contact_gait__jump_contact_gait_summary.json.</a:t>
            </a:r>
          </a:p>
          <a:p xmlns:a="http://schemas.openxmlformats.org/drawingml/2006/main">
            <a:r>
              <a:t>- 项目来源：results/development_20260816/hybrid_guardrail/8_16_trials_1__VIDEO_INDEX.json.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两组条件都使用目标速度跟踪；比较因素是动作变化率塑形权重。部分诊断指标改善，另一些恶化，而且反复腾空仍然存在。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项目来源：results/development_20260816/target_and_action_rate_1m/analysis__target_budget_extension_summary.json.</a:t>
            </a:r>
          </a:p>
          <a:p xmlns:a="http://schemas.openxmlformats.org/drawingml/2006/main">
            <a:r>
              <a:t>- 项目视觉：results/development_20260816/target_and_action_rate_1m/analysis__target_budget_extension_summary.png; SHA-256 A111D66D81245866641052D743133EC734AC2B874EA582491200231F25FA8F9F.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在普通高斯探索下，身体动力学塑形降低了若干跳跃诊断指标，但没有满足完整的预期行为契约。关于 gSDE 的结论仅适用于所测试的每 8 步重采样配置。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Raffin, Kober and Stulp (2022): https://proceedings.mlr.press/v164/raffin22a.html.</a:t>
            </a:r>
          </a:p>
          <a:p xmlns:a="http://schemas.openxmlformats.org/drawingml/2006/main">
            <a:r>
              <a:t>- 项目来源：configs/body_smoothness_gsde_matrix_v1_20260816.json.</a:t>
            </a:r>
          </a:p>
          <a:p xmlns:a="http://schemas.openxmlformats.org/drawingml/2006/main">
            <a:r>
              <a:t>- 项目来源：results/development_20260816/body_dynamics_gsde_1m/analysis__body_smoothness_gsde_summary.json.</a:t>
            </a:r>
          </a:p>
          <a:p xmlns:a="http://schemas.openxmlformats.org/drawingml/2006/main">
            <a:r>
              <a:t>- 项目视觉：results/development_20260816/body_dynamics_gsde_1m/analysis__body_smoothness_gsde_endpoint_summary.png; SHA-256 89A14D4FDE89A2435CC2350934886FA4F544F1161882665A0B27566B7ADE6F40.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第一个未解决问题是构念定义；第二个是区分学习策略的提议动作与下游投影层的作用归因。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Aractingi et al. (2023): https://doi.org/10.1038/s41598-023-38259-7.</a:t>
            </a:r>
          </a:p>
          <a:p xmlns:a="http://schemas.openxmlformats.org/drawingml/2006/main">
            <a:r>
              <a:t>- 项目来源：configs/hybrid_guardrail_observability_correction_v1_20260816.json.</a:t>
            </a:r>
          </a:p>
          <a:p xmlns:a="http://schemas.openxmlformats.org/drawingml/2006/main">
            <a:r>
              <a:t>- 项目来源：docs/TEAM_PROGRESS_UPDATE_20260816.md.</a:t>
            </a:r>
          </a:p>
          <a:p xmlns:a="http://schemas.openxmlformats.org/drawingml/2006/main">
            <a:r>
              <a:t>- 项目来源：reports/CURRENT_DEVELOPMENT_SYNTHESIS_20260816.md.</a:t>
            </a:r>
          </a:p>
          <a:p xmlns:a="http://schemas.openxmlformats.org/drawingml/2006/main">
            <a:r>
              <a:t>- 机器可读的本地证据保留在作者存档中：endpoint_condition_summary.csv; SHA-256 11D74296C055506AF7D497952B7B6535C099B8554A9587186B381FF06E8554BC.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经核实的执行状态显示：候选约束包装器尚未实现，工程测试尚未通过，也未授权使用留出种子训练。当前正式设计是在候选选择和冻结后开展奖励 × 约束的 2 × 2 消融实验。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项目来源：docs/RESEARCH_DIRECTION_20260816.md.</a:t>
            </a:r>
          </a:p>
          <a:p xmlns:a="http://schemas.openxmlformats.org/drawingml/2006/main">
            <a:r>
              <a:t>- 项目来源：configs/hybrid_intent_constraint_design_v1_20260816.json.</a:t>
            </a:r>
          </a:p>
          <a:p xmlns:a="http://schemas.openxmlformats.org/drawingml/2006/main">
            <a:r>
              <a:t>- 项目来源：docs/PUBLIC_RELEASE_CONTENTS_20260816.md.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本页汇总整套幻灯片使用的完整来源网址和项目路径；各页讲者备注中的 [Sources] 区块也保留了对应来源。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Farama Foundation (n.d.): https://gymnasium.farama.org/environments/mujoco/ant/（访问日期：2026年8月16日）.</a:t>
            </a:r>
          </a:p>
          <a:p xmlns:a="http://schemas.openxmlformats.org/drawingml/2006/main">
            <a:r>
              <a:t>- Skalse et al. (2022): https://proceedings.neurips.cc/paper_files/paper/2022/file/3d719fee332caa23d5038b8a90e81796-Paper-Conference.pdf.</a:t>
            </a:r>
          </a:p>
          <a:p xmlns:a="http://schemas.openxmlformats.org/drawingml/2006/main">
            <a:r>
              <a:t>- Pan, Bhatia and Steinhardt (2022): https://arxiv.org/abs/2201.03544.</a:t>
            </a:r>
          </a:p>
          <a:p xmlns:a="http://schemas.openxmlformats.org/drawingml/2006/main">
            <a:r>
              <a:t>- Raffin, Kober and Stulp (2022): https://proceedings.mlr.press/v164/raffin22a.html.</a:t>
            </a:r>
          </a:p>
          <a:p xmlns:a="http://schemas.openxmlformats.org/drawingml/2006/main">
            <a:r>
              <a:t>- Aractingi et al. (2023): https://doi.org/10.1038/s41598-023-38259-7.</a:t>
            </a:r>
          </a:p>
          <a:p xmlns:a="http://schemas.openxmlformats.org/drawingml/2006/main">
            <a:r>
              <a:t>- 项目快照：docs/RESEARCH_DIRECTION_20260816.md; docs/INTENDED_BEHAVIOUR_CONTRACT_V2_20260816.md; reports/CURRENT_DEVELOPMENT_SYNTHESIS_20260816.md; results/development_20260816/.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503cbc0f9b44fd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ac6610d85b64d2c" /><Relationship Type="http://schemas.openxmlformats.org/officeDocument/2006/relationships/slideLayout" Target="/ppt/slideLayouts/slideLayout1.xml" Id="R49eccbc1e612466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9eccbc1e612466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1614a5ca5a422b" /><Relationship Type="http://schemas.openxmlformats.org/officeDocument/2006/relationships/image" Target="/ppt/media/image.png" Id="Rb6ff7540e00c4437" /><Relationship Type="http://schemas.openxmlformats.org/officeDocument/2006/relationships/notesSlide" Target="/ppt/notesSlides/notesSlide1.xml" Id="Reafd8b20116e48e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2c26a8e7fb4e17" /><Relationship Type="http://schemas.openxmlformats.org/officeDocument/2006/relationships/notesSlide" Target="/ppt/notesSlides/notesSlide2.xml" Id="R4ca8814c3aa94c5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5e2bc05c3e4c9d" /><Relationship Type="http://schemas.openxmlformats.org/officeDocument/2006/relationships/notesSlide" Target="/ppt/notesSlides/notesSlide3.xml" Id="R9f7cafaec95a4bd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f7499c31424420" /><Relationship Type="http://schemas.openxmlformats.org/officeDocument/2006/relationships/notesSlide" Target="/ppt/notesSlides/notesSlide4.xml" Id="R3c481c6226b3444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6bb16c86c34a09" /><Relationship Type="http://schemas.openxmlformats.org/officeDocument/2006/relationships/notesSlide" Target="/ppt/notesSlides/notesSlide5.xml" Id="R6fc4b5749fbe42d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0cea557d9c427b" /><Relationship Type="http://schemas.openxmlformats.org/officeDocument/2006/relationships/notesSlide" Target="/ppt/notesSlides/notesSlide6.xml" Id="Rcb68930b912f4b7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3e8014168045db" /><Relationship Type="http://schemas.openxmlformats.org/officeDocument/2006/relationships/notesSlide" Target="/ppt/notesSlides/notesSlide7.xml" Id="Rb883381fe78344a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1bd04f64c54d94" /><Relationship Type="http://schemas.openxmlformats.org/officeDocument/2006/relationships/image" Target="/ppt/media/image2.png" Id="R19cf3950db6343fd" /><Relationship Type="http://schemas.openxmlformats.org/officeDocument/2006/relationships/notesSlide" Target="/ppt/notesSlides/notesSlide8.xml" Id="R35bd7746fd7d4c0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ca71b00c924501" /><Relationship Type="http://schemas.openxmlformats.org/officeDocument/2006/relationships/image" Target="/ppt/media/image3.png" Id="R5140356708b5414b" /><Relationship Type="http://schemas.openxmlformats.org/officeDocument/2006/relationships/notesSlide" Target="/ppt/notesSlides/notesSlide9.xml" Id="Rb45edf981cc14cf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39d5f4b7244310" /><Relationship Type="http://schemas.openxmlformats.org/officeDocument/2006/relationships/notesSlide" Target="/ppt/notesSlides/notesSlide10.xml" Id="Raf712b1b99f447e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33dca4ac3645a6" /><Relationship Type="http://schemas.openxmlformats.org/officeDocument/2006/relationships/notesSlide" Target="/ppt/notesSlides/notesSlide11.xml" Id="R77e1c15e6d0842e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c2b4dae2274fc7" /><Relationship Type="http://schemas.openxmlformats.org/officeDocument/2006/relationships/notesSlide" Target="/ppt/notesSlides/notesSlide12.xml" Id="Re4a29aa83e024c2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ff7540e00c4437"/>
          <a:srcRect xmlns:a="http://schemas.openxmlformats.org/drawingml/2006/main" l="388" t="0" r="38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C0FFDC-720B-487D-93BE-EC3F49D30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18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D35099-283B-484E-A04E-4FF537B1E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239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68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939A72-ABF7-4CA4-B068-E6CC72A40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71550"/>
            <a:ext cx="762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cover-title">
            <a:extLst xmlns:a="http://schemas.openxmlformats.org/drawingml/2006/main">
              <a:ext uri="{FF2B5EF4-FFF2-40B4-BE49-F238E27FC236}">
                <a16:creationId xmlns:a16="http://schemas.microsoft.com/office/drawing/2014/main" id="{FB26BC93-52CB-4422-AD5E-8E1DBC930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066800"/>
            <a:ext cx="55721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58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8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ProxyGap</a:t>
            </a:r>
          </a:p>
        </p:txBody>
      </p:sp>
      <p:sp>
        <p:nvSpPr>
          <p:cNvPr id="6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EBC4105A-9BA3-4BF4-8BEA-BC6744B08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266950"/>
            <a:ext cx="533400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审计奖励错设，并在 Ant-v5 运动任务中开发范围受限的缓解方案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D2A131-7077-412B-BCF3-3E3165B2D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095750"/>
            <a:ext cx="523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 i="0">
                <a:solidFill>
                  <a:srgbClr val="D7E8F6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D7E8F6"/>
                </a:solidFill>
                <a:latin typeface="Arial"/>
                <a:ea typeface="Arial"/>
                <a:cs typeface="Arial"/>
              </a:rPr>
              <a:t>团队进展更新  |  2026年8月16日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1E4815-B2FC-4D88-ACBD-0ED86D5C0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6162675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D7E8F6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D7E8F6"/>
                </a:solidFill>
                <a:latin typeface="Arial"/>
                <a:ea typeface="Arial"/>
                <a:cs typeface="Arial"/>
              </a:rPr>
              <a:t>项目生成画面 · 固定中点 · 完整 50 秒回合</a:t>
            </a:r>
          </a:p>
        </p:txBody>
      </p:sp>
    </p:spTree>
    <p:extLst>
      <p:ext uri="{BB962C8B-B14F-4D97-AF65-F5344CB8AC3E}">
        <p14:creationId xmlns:p14="http://schemas.microsoft.com/office/powerpoint/2010/main" val="130746734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slide-2-title">
            <a:extLst xmlns:a="http://schemas.openxmlformats.org/drawingml/2006/main">
              <a:ext uri="{FF2B5EF4-FFF2-40B4-BE49-F238E27FC236}">
                <a16:creationId xmlns:a16="http://schemas.microsoft.com/office/drawing/2014/main" id="{6BD40C6B-4A5F-4E56-988B-38A8B2B33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1095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当前研究首先审计默认奖励</a:t>
            </a:r>
          </a:p>
        </p:txBody>
      </p:sp>
      <p:sp>
        <p:nvSpPr>
          <p:cNvPr id="2" name="slide-2-number">
            <a:extLst xmlns:a="http://schemas.openxmlformats.org/drawingml/2006/main">
              <a:ext uri="{FF2B5EF4-FFF2-40B4-BE49-F238E27FC236}">
                <a16:creationId xmlns:a16="http://schemas.microsoft.com/office/drawing/2014/main" id="{843EB39E-F225-4139-A733-F87ED6E6A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390525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0" i="0">
                <a:solidFill>
                  <a:srgbClr val="545B66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45B6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cxnSp>
        <p:nvCxnSpPr>
          <p:cNvPr id="34" name=""/>
          <p:cNvCxnSpPr/>
          <p:nvPr/>
        </p:nvCxnSpPr>
        <p:spPr>
          <a:xfrm xmlns:a="http://schemas.openxmlformats.org/drawingml/2006/main">
            <a:off x="457200" y="1000125"/>
            <a:ext cx="1127760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direction-rationale">
            <a:extLst xmlns:a="http://schemas.openxmlformats.org/drawingml/2006/main">
              <a:ext uri="{FF2B5EF4-FFF2-40B4-BE49-F238E27FC236}">
                <a16:creationId xmlns:a16="http://schemas.microsoft.com/office/drawing/2014/main" id="{F4D19988-EFD1-452C-8930-6F616EC6B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00150"/>
            <a:ext cx="109347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 i="0">
                <a:solidFill>
                  <a:srgbClr val="545B66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545B66"/>
                </a:solidFill>
                <a:latin typeface="Arial"/>
                <a:ea typeface="Arial"/>
                <a:cs typeface="Arial"/>
              </a:rPr>
              <a:t>在尚未确认默认奖励能否代表预期行为契约之前，系数扫描只是在比较不同的标量代理奖励。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0E217D-7260-43BA-A427-86ADBA651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52650"/>
            <a:ext cx="4762500" cy="2781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705CE9-C79A-4568-85BB-C77EB453F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19350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此前视角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4BA16A-1035-40CD-BE1D-611DDF407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1146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45B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bullet-1">
            <a:extLst xmlns:a="http://schemas.openxmlformats.org/drawingml/2006/main">
              <a:ext uri="{FF2B5EF4-FFF2-40B4-BE49-F238E27FC236}">
                <a16:creationId xmlns:a16="http://schemas.microsoft.com/office/drawing/2014/main" id="{BB62111C-A6DC-4AE1-9552-C5952FF59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048000"/>
            <a:ext cx="3771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调整 ctrl_cost_weight。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C64F23-10ED-4AA4-885E-A806F7990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671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45B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bullet-2">
            <a:extLst xmlns:a="http://schemas.openxmlformats.org/drawingml/2006/main">
              <a:ext uri="{FF2B5EF4-FFF2-40B4-BE49-F238E27FC236}">
                <a16:creationId xmlns:a16="http://schemas.microsoft.com/office/drawing/2014/main" id="{038FC9E9-2E82-411B-A6AE-B1158A621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600450"/>
            <a:ext cx="3771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比较代理累积回报与诊断指标。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3CF694-6F45-4FA7-BBC7-C93A7B215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195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45B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bullet-3">
            <a:extLst xmlns:a="http://schemas.openxmlformats.org/drawingml/2006/main">
              <a:ext uri="{FF2B5EF4-FFF2-40B4-BE49-F238E27FC236}">
                <a16:creationId xmlns:a16="http://schemas.microsoft.com/office/drawing/2014/main" id="{6E69C1A6-780A-4148-BFE6-567DE88EC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152900"/>
            <a:ext cx="3771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风险：只是比较两个都不完整的标量代理奖励。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2BFA6B3-36D5-433F-855C-6BE0B5A1D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143250"/>
            <a:ext cx="781050" cy="7429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A20CB47-B0A3-486F-9885-380D917DC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152650"/>
            <a:ext cx="4933950" cy="2781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E989B4B-6AAD-4F3F-9FF3-097CD03EC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419350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 i="0">
                <a:solidFill>
                  <a:srgbClr val="1557A0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1557A0"/>
                </a:solidFill>
                <a:latin typeface="Arial"/>
                <a:ea typeface="Arial"/>
                <a:cs typeface="Arial"/>
              </a:rPr>
              <a:t>当前问题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060B108-6A12-45E2-8F10-2030FA201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1146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bullet-1">
            <a:extLst xmlns:a="http://schemas.openxmlformats.org/drawingml/2006/main">
              <a:ext uri="{FF2B5EF4-FFF2-40B4-BE49-F238E27FC236}">
                <a16:creationId xmlns:a16="http://schemas.microsoft.com/office/drawing/2014/main" id="{678E5F62-E910-47AA-BE2C-C8986EAFA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048000"/>
            <a:ext cx="3867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依据已声明的契约审计默认奖励。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D7FBBF6-2F08-4ECE-ACB3-15370885E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6671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bullet-2">
            <a:extLst xmlns:a="http://schemas.openxmlformats.org/drawingml/2006/main">
              <a:ext uri="{FF2B5EF4-FFF2-40B4-BE49-F238E27FC236}">
                <a16:creationId xmlns:a16="http://schemas.microsoft.com/office/drawing/2014/main" id="{AB2FB3DF-0045-46CF-BCBB-D8E1A880C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600450"/>
            <a:ext cx="3867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寻找可复现的代理奖励—诊断指标排序分歧。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9F4734C-E7DA-4643-9E00-C60C059C0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2195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bullet-3">
            <a:extLst xmlns:a="http://schemas.openxmlformats.org/drawingml/2006/main">
              <a:ext uri="{FF2B5EF4-FFF2-40B4-BE49-F238E27FC236}">
                <a16:creationId xmlns:a16="http://schemas.microsoft.com/office/drawing/2014/main" id="{9523FC18-1F0C-4430-9213-84A992790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152900"/>
            <a:ext cx="3867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仅在协议冻结后测试一种范围受限的缓解方案。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5DC3480-105E-4CED-B470-2DF08BE35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219700"/>
            <a:ext cx="109347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B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7842A89-E9B9-4216-B454-CA7DE2697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400675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D55E00"/>
                </a:solidFill>
                <a:latin typeface="Arial"/>
                <a:ea typeface="Arial"/>
                <a:cs typeface="Arial"/>
              </a:rPr>
              <a:t>历史权重扫描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A2E2E47-6A07-4D2B-A8ED-1D497F1AF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381625"/>
            <a:ext cx="7762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作为回顾性探索证据保留；不丢弃，也不作为核心实验。</a:t>
            </a:r>
          </a:p>
        </p:txBody>
      </p:sp>
      <p:sp>
        <p:nvSpPr>
          <p:cNvPr id="25" name="short-source-label">
            <a:extLst xmlns:a="http://schemas.openxmlformats.org/drawingml/2006/main">
              <a:ext uri="{FF2B5EF4-FFF2-40B4-BE49-F238E27FC236}">
                <a16:creationId xmlns:a16="http://schemas.microsoft.com/office/drawing/2014/main" id="{BD82F8FC-19EB-4DA4-A704-CE67E42FC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545B66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545B66"/>
                </a:solidFill>
                <a:latin typeface="Arial"/>
                <a:ea typeface="Arial"/>
                <a:cs typeface="Arial"/>
              </a:rPr>
              <a:t>项目证据：RESEARCH_DIRECTION_20260816；CURRENT_DEVELOPMENT_SYNTHESIS_20260816。</a:t>
            </a:r>
          </a:p>
        </p:txBody>
      </p:sp>
    </p:spTree>
    <p:extLst>
      <p:ext uri="{BB962C8B-B14F-4D97-AF65-F5344CB8AC3E}">
        <p14:creationId xmlns:p14="http://schemas.microsoft.com/office/powerpoint/2010/main" val="52523225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slide-3-title">
            <a:extLst xmlns:a="http://schemas.openxmlformats.org/drawingml/2006/main">
              <a:ext uri="{FF2B5EF4-FFF2-40B4-BE49-F238E27FC236}">
                <a16:creationId xmlns:a16="http://schemas.microsoft.com/office/drawing/2014/main" id="{CCBFFFE3-45CB-4F98-B89B-2F875D388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1095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标量代理奖励可能遗漏行为向量</a:t>
            </a:r>
          </a:p>
        </p:txBody>
      </p:sp>
      <p:sp>
        <p:nvSpPr>
          <p:cNvPr id="2" name="slide-3-number">
            <a:extLst xmlns:a="http://schemas.openxmlformats.org/drawingml/2006/main">
              <a:ext uri="{FF2B5EF4-FFF2-40B4-BE49-F238E27FC236}">
                <a16:creationId xmlns:a16="http://schemas.microsoft.com/office/drawing/2014/main" id="{E4CD8E66-423D-4E5A-BE6C-8213D6DF0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390525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0" i="0">
                <a:solidFill>
                  <a:srgbClr val="545B66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45B6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cxnSp>
        <p:nvCxnSpPr>
          <p:cNvPr id="31" name=""/>
          <p:cNvCxnSpPr/>
          <p:nvPr/>
        </p:nvCxnSpPr>
        <p:spPr>
          <a:xfrm xmlns:a="http://schemas.openxmlformats.org/drawingml/2006/main">
            <a:off x="457200" y="1000125"/>
            <a:ext cx="1127760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cxnSp>
        <p:nvCxnSpPr>
          <p:cNvPr id="32" name=""/>
          <p:cNvCxnSpPr/>
          <p:nvPr/>
        </p:nvCxnSpPr>
        <p:spPr>
          <a:xfrm xmlns:a="http://schemas.openxmlformats.org/drawingml/2006/main">
            <a:off x="3924300" y="1381125"/>
            <a:ext cx="9525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cxnSp>
        <p:nvCxnSpPr>
          <p:cNvPr id="33" name=""/>
          <p:cNvCxnSpPr/>
          <p:nvPr/>
        </p:nvCxnSpPr>
        <p:spPr>
          <a:xfrm xmlns:a="http://schemas.openxmlformats.org/drawingml/2006/main">
            <a:off x="7448550" y="1381125"/>
            <a:ext cx="9525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6A85BB-7354-4C39-BFEE-A053DE70C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09700"/>
            <a:ext cx="723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33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7EA5A0-E023-4918-9467-36BC0CE7A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14550"/>
            <a:ext cx="3000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平台任务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1003A7-030C-4E0A-870B-46B8FE286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724150"/>
            <a:ext cx="3143250" cy="1885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 i="0">
                <a:solidFill>
                  <a:srgbClr val="545B66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545B66"/>
                </a:solidFill>
                <a:latin typeface="Arial"/>
                <a:ea typeface="Arial"/>
                <a:cs typeface="Arial"/>
              </a:rPr>
              <a:t>Ant-v5 协调四条腿沿 +x 方向运动，最长 1,000 步。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482B97-343D-4495-A6F6-A35FD77EF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1409700"/>
            <a:ext cx="723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 i="0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3300" b="1" i="0">
                <a:solidFill>
                  <a:srgbClr val="D55E0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E4754B-BE3E-47D9-A0D8-E1C5D8F78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2114550"/>
            <a:ext cx="3000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训练用代理奖励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18D19F0-0CDC-437C-BF1E-FFF2151AD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2724150"/>
            <a:ext cx="3143250" cy="1885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 i="0">
                <a:solidFill>
                  <a:srgbClr val="545B66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545B66"/>
                </a:solidFill>
                <a:latin typeface="Arial"/>
                <a:ea typeface="Arial"/>
                <a:cs typeface="Arial"/>
              </a:rPr>
              <a:t>PPO 最大化期望累积回报：前进奖励 + 健康奖励 − 控制成本 − 截断后的接触成本。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E15A22D-4FB8-46D5-836C-110E5F28B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1409700"/>
            <a:ext cx="723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 i="0">
                <a:solidFill>
                  <a:srgbClr val="009E73"/>
                </a:solidFill>
                <a:latin typeface="Arial"/>
                <a:ea typeface="Arial"/>
                <a:cs typeface="Arial"/>
              </a:defRPr>
            </a:pPr>
            <a:r>
              <a:rPr sz="3300" b="1" i="0">
                <a:solidFill>
                  <a:srgbClr val="009E73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5C26010-ED78-470B-8B1A-E0625B9BF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114550"/>
            <a:ext cx="3000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诊断指标向量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AD6580-BC23-408B-A915-EE4A0BFA9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724150"/>
            <a:ext cx="3143250" cy="1885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 i="0">
                <a:solidFill>
                  <a:srgbClr val="545B66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545B66"/>
                </a:solidFill>
                <a:latin typeface="Arial"/>
                <a:ea typeface="Arial"/>
                <a:cs typeface="Arial"/>
              </a:rPr>
              <a:t>项目契约审计速度、姿态、终止、方向、路径、动作质量及身体动力学；并非“真实奖励”。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A42B5F9-C2B3-42C2-8CDA-6684B55E3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972050"/>
            <a:ext cx="109347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A4DF4C3-01A4-4664-A0BB-CE3B40DD5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200650"/>
            <a:ext cx="1571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 i="0">
                <a:solidFill>
                  <a:srgbClr val="1557A0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1557A0"/>
                </a:solidFill>
                <a:latin typeface="Arial"/>
                <a:ea typeface="Arial"/>
                <a:cs typeface="Arial"/>
              </a:rPr>
              <a:t>核心问题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09E197A-BB7F-470C-A28F-FFEA6A2B9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5162550"/>
            <a:ext cx="8572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默认奖励下的累积回报更高，是否仍可能伴随预先声明的最低要求失败，或诊断指标向量出现具有实际意义的恶化？</a:t>
            </a:r>
          </a:p>
        </p:txBody>
      </p:sp>
      <p:sp>
        <p:nvSpPr>
          <p:cNvPr id="18" name="short-source-label">
            <a:extLst xmlns:a="http://schemas.openxmlformats.org/drawingml/2006/main">
              <a:ext uri="{FF2B5EF4-FFF2-40B4-BE49-F238E27FC236}">
                <a16:creationId xmlns:a16="http://schemas.microsoft.com/office/drawing/2014/main" id="{E11E01A9-1244-4E16-8BE2-8B5AC3D4C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545B66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545B66"/>
                </a:solidFill>
                <a:latin typeface="Arial"/>
                <a:ea typeface="Arial"/>
                <a:cs typeface="Arial"/>
              </a:rPr>
              <a:t>来源：Farama Foundation（无日期）；Skalse 等（2022）；项目诊断契约。</a:t>
            </a:r>
          </a:p>
        </p:txBody>
      </p:sp>
    </p:spTree>
    <p:extLst>
      <p:ext uri="{BB962C8B-B14F-4D97-AF65-F5344CB8AC3E}">
        <p14:creationId xmlns:p14="http://schemas.microsoft.com/office/powerpoint/2010/main" val="176151153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slide-4-title">
            <a:extLst xmlns:a="http://schemas.openxmlformats.org/drawingml/2006/main">
              <a:ext uri="{FF2B5EF4-FFF2-40B4-BE49-F238E27FC236}">
                <a16:creationId xmlns:a16="http://schemas.microsoft.com/office/drawing/2014/main" id="{9F053354-D128-4529-B71F-BF2345369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1095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预期行为被操作化为诊断指标向量</a:t>
            </a:r>
          </a:p>
        </p:txBody>
      </p:sp>
      <p:sp>
        <p:nvSpPr>
          <p:cNvPr id="2" name="slide-4-number">
            <a:extLst xmlns:a="http://schemas.openxmlformats.org/drawingml/2006/main">
              <a:ext uri="{FF2B5EF4-FFF2-40B4-BE49-F238E27FC236}">
                <a16:creationId xmlns:a16="http://schemas.microsoft.com/office/drawing/2014/main" id="{F8C94BFD-B3D9-477D-9E62-BB4021885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390525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0" i="0">
                <a:solidFill>
                  <a:srgbClr val="545B66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45B66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cxnSp>
        <p:nvCxnSpPr>
          <p:cNvPr id="41" name=""/>
          <p:cNvCxnSpPr/>
          <p:nvPr/>
        </p:nvCxnSpPr>
        <p:spPr>
          <a:xfrm xmlns:a="http://schemas.openxmlformats.org/drawingml/2006/main">
            <a:off x="457200" y="1000125"/>
            <a:ext cx="1127760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47B62D-D37A-490C-9707-8251272CB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62050"/>
            <a:ext cx="10934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 i="0">
                <a:solidFill>
                  <a:srgbClr val="545B66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545B66"/>
                </a:solidFill>
                <a:latin typeface="Arial"/>
                <a:ea typeface="Arial"/>
                <a:cs typeface="Arial"/>
              </a:rPr>
              <a:t>项目定义的评估契约——既不是虚构的“真实奖励”，也不是 Ant-v5 的默认目标。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AA1481-6867-43D8-89C1-35CC36099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90700"/>
            <a:ext cx="2857500" cy="3562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3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60BAA4-7B37-4868-8FDF-BA1BC0B6F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71700"/>
            <a:ext cx="2381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45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5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1.0 m/s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2AE5B4-430A-4C1E-87FC-A3F3A3BC0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009900"/>
            <a:ext cx="2343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0" i="0">
                <a:solidFill>
                  <a:srgbClr val="D7E8F6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D7E8F6"/>
                </a:solidFill>
                <a:latin typeface="Arial"/>
                <a:ea typeface="Arial"/>
                <a:cs typeface="Arial"/>
              </a:rPr>
              <a:t>前进指令</a:t>
            </a:r>
          </a:p>
        </p:txBody>
      </p:sp>
      <p:cxnSp>
        <p:nvCxnSpPr>
          <p:cNvPr id="46" name=""/>
          <p:cNvCxnSpPr/>
          <p:nvPr/>
        </p:nvCxnSpPr>
        <p:spPr>
          <a:xfrm xmlns:a="http://schemas.openxmlformats.org/drawingml/2006/main">
            <a:off x="1028700" y="3638550"/>
            <a:ext cx="203835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607087"/>
            </a:solidFill>
            <a:prstDash val="solid"/>
          </a:ln>
        </p:spPr>
      </p:cxn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A41668-C2E9-41D9-8B6A-9807754C3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905250"/>
            <a:ext cx="2343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2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1,000 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63CFD6-94B2-46D6-B06C-519042203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438650"/>
            <a:ext cx="2343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0" i="0">
                <a:solidFill>
                  <a:srgbClr val="D7E8F6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D7E8F6"/>
                </a:solidFill>
                <a:latin typeface="Arial"/>
                <a:ea typeface="Arial"/>
                <a:cs typeface="Arial"/>
              </a:rPr>
              <a:t>固定 50 秒时域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22E2F3-0C79-4CE8-845D-1E09F01FB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1790700"/>
            <a:ext cx="77152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B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3E9D9C-2007-4A00-A72C-B50A52F17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19621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 i="0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D55E00"/>
                </a:solidFill>
                <a:latin typeface="Arial"/>
                <a:ea typeface="Arial"/>
                <a:cs typeface="Arial"/>
              </a:rPr>
              <a:t>最低要求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C179645-93FA-4486-BBF7-01ED29EBF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952625"/>
            <a:ext cx="4914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完成全时域；无不健康终止；无持续倒置。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49921FB-FF35-4820-9988-EAD582EBF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971800"/>
            <a:ext cx="77152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B276E51-D296-4713-810B-9BEB6ED26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1432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质量诊断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4161EEC-6813-4B50-8DFF-26C56EF8E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133725"/>
            <a:ext cx="4914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躯干倾斜、方向误差、路径效率、动作粗糙度、饱和、腾空与地面接触。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3E2F894-D432-47CC-8972-B9A6FA19A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4152900"/>
            <a:ext cx="77152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C666ACF-7EF3-4730-A356-3900FAEAB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43243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 i="0">
                <a:solidFill>
                  <a:srgbClr val="1557A0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1557A0"/>
                </a:solidFill>
                <a:latin typeface="Arial"/>
                <a:ea typeface="Arial"/>
                <a:cs typeface="Arial"/>
              </a:rPr>
              <a:t>公平比较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CA6F567-D952-4595-86A7-12454AA1A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314825"/>
            <a:ext cx="4914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相同评估种子用于配对不同策略的初始状态扰动；独立训练运行仍是重复单位。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24782DB-65C3-4BE7-A767-0AD144CD3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54864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557A0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557A0"/>
                </a:solidFill>
                <a:latin typeface="Arial"/>
                <a:ea typeface="Arial"/>
                <a:cs typeface="Arial"/>
              </a:rPr>
              <a:t>状态  开发阶段已冻结；正式协议尚未冻结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8D6D4DF-3F19-4026-A474-B9F18B012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5857875"/>
            <a:ext cx="7715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 i="0">
                <a:solidFill>
                  <a:srgbClr val="545B66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545B66"/>
                </a:solidFill>
                <a:latin typeface="Arial"/>
                <a:ea typeface="Arial"/>
                <a:cs typeface="Arial"/>
              </a:rPr>
              <a:t>这些阈值是平地项目标准，并非通用机器人安全标准。</a:t>
            </a:r>
          </a:p>
        </p:txBody>
      </p:sp>
      <p:sp>
        <p:nvSpPr>
          <p:cNvPr id="22" name="short-source-label">
            <a:extLst xmlns:a="http://schemas.openxmlformats.org/drawingml/2006/main">
              <a:ext uri="{FF2B5EF4-FFF2-40B4-BE49-F238E27FC236}">
                <a16:creationId xmlns:a16="http://schemas.microsoft.com/office/drawing/2014/main" id="{544053ED-F843-4840-97D0-EA65BC870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545B66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545B66"/>
                </a:solidFill>
                <a:latin typeface="Arial"/>
                <a:ea typeface="Arial"/>
                <a:cs typeface="Arial"/>
              </a:rPr>
              <a:t>项目证据：hybrid_intent_constraint_design_v1；INTENDED_BEHAVIOUR_CONTRACT_V2。</a:t>
            </a:r>
          </a:p>
        </p:txBody>
      </p:sp>
    </p:spTree>
    <p:extLst>
      <p:ext uri="{BB962C8B-B14F-4D97-AF65-F5344CB8AC3E}">
        <p14:creationId xmlns:p14="http://schemas.microsoft.com/office/powerpoint/2010/main" val="171149597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slide-5-title">
            <a:extLst xmlns:a="http://schemas.openxmlformats.org/drawingml/2006/main">
              <a:ext uri="{FF2B5EF4-FFF2-40B4-BE49-F238E27FC236}">
                <a16:creationId xmlns:a16="http://schemas.microsoft.com/office/drawing/2014/main" id="{29519D2A-E961-4EFE-9DE0-601DC876E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1095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默认奖励遗漏了关键维度</a:t>
            </a:r>
          </a:p>
        </p:txBody>
      </p:sp>
      <p:sp>
        <p:nvSpPr>
          <p:cNvPr id="2" name="slide-5-number">
            <a:extLst xmlns:a="http://schemas.openxmlformats.org/drawingml/2006/main">
              <a:ext uri="{FF2B5EF4-FFF2-40B4-BE49-F238E27FC236}">
                <a16:creationId xmlns:a16="http://schemas.microsoft.com/office/drawing/2014/main" id="{BFF34B91-09DF-45E3-A09F-98E34ECF2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390525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0" i="0">
                <a:solidFill>
                  <a:srgbClr val="545B66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45B66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cxnSp>
        <p:nvCxnSpPr>
          <p:cNvPr id="38" name=""/>
          <p:cNvCxnSpPr/>
          <p:nvPr/>
        </p:nvCxnSpPr>
        <p:spPr>
          <a:xfrm xmlns:a="http://schemas.openxmlformats.org/drawingml/2006/main">
            <a:off x="457200" y="1000125"/>
            <a:ext cx="1127760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5CA854-FB66-4548-9F16-81F6B4AF7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81100"/>
            <a:ext cx="10934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 i="0">
                <a:solidFill>
                  <a:srgbClr val="545B66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545B66"/>
                </a:solidFill>
                <a:latin typeface="Arial"/>
                <a:ea typeface="Arial"/>
                <a:cs typeface="Arial"/>
              </a:rPr>
              <a:t>项目定义的契约比提供给 PPO 的标量更广。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D8F7E0-2CE2-4E23-83EB-3B59D8218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90700"/>
            <a:ext cx="5219700" cy="2914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BDA6EB-8D19-41C4-B3A1-0D6B65446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38350"/>
            <a:ext cx="4191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直接表示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2C9B40-CB19-417D-8B45-937C6FAE1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146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bullet-1">
            <a:extLst xmlns:a="http://schemas.openxmlformats.org/drawingml/2006/main">
              <a:ext uri="{FF2B5EF4-FFF2-40B4-BE49-F238E27FC236}">
                <a16:creationId xmlns:a16="http://schemas.microsoft.com/office/drawing/2014/main" id="{E1890A0D-0AD1-4598-AABD-D6F942C2B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647950"/>
            <a:ext cx="41052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前进速度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425292-3AB2-48B6-878D-3457F77B1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1718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bullet-2">
            <a:extLst xmlns:a="http://schemas.openxmlformats.org/drawingml/2006/main">
              <a:ext uri="{FF2B5EF4-FFF2-40B4-BE49-F238E27FC236}">
                <a16:creationId xmlns:a16="http://schemas.microsoft.com/office/drawing/2014/main" id="{BD3A502C-2692-4D5E-AB30-1A50F79E6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105150"/>
            <a:ext cx="41052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宽泛的健康状态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78A262-CD43-463A-BD03-C704E028F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290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bullet-3">
            <a:extLst xmlns:a="http://schemas.openxmlformats.org/drawingml/2006/main">
              <a:ext uri="{FF2B5EF4-FFF2-40B4-BE49-F238E27FC236}">
                <a16:creationId xmlns:a16="http://schemas.microsoft.com/office/drawing/2014/main" id="{E84ED42F-C0C3-4827-8792-192D3C73E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562350"/>
            <a:ext cx="41052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动作幅值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7F7DFF4-BC07-419F-A83D-D6F2517F1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0862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bullet-4">
            <a:extLst xmlns:a="http://schemas.openxmlformats.org/drawingml/2006/main">
              <a:ext uri="{FF2B5EF4-FFF2-40B4-BE49-F238E27FC236}">
                <a16:creationId xmlns:a16="http://schemas.microsoft.com/office/drawing/2014/main" id="{544D5C3B-CC91-4E81-9B5A-4AA4CEFA5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019550"/>
            <a:ext cx="41052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截断后的接触成本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6D219A3-A13A-4D26-AC82-8BAFFBBEF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790700"/>
            <a:ext cx="5219700" cy="2914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B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BA7D0CB-5333-4902-A373-C14E09A30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038350"/>
            <a:ext cx="4191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 i="0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D55E00"/>
                </a:solidFill>
                <a:latin typeface="Arial"/>
                <a:ea typeface="Arial"/>
                <a:cs typeface="Arial"/>
              </a:rPr>
              <a:t>未直接要求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AEBE73A-2B5A-49F4-BD79-2432C3B62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7146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bullet-1">
            <a:extLst xmlns:a="http://schemas.openxmlformats.org/drawingml/2006/main">
              <a:ext uri="{FF2B5EF4-FFF2-40B4-BE49-F238E27FC236}">
                <a16:creationId xmlns:a16="http://schemas.microsoft.com/office/drawing/2014/main" id="{AD308234-3356-4D98-B985-3362D26FF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647950"/>
            <a:ext cx="41052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目标速度跟踪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E8863A8-B5EC-4C93-BDAA-3DE62702E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1718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bullet-2">
            <a:extLst xmlns:a="http://schemas.openxmlformats.org/drawingml/2006/main">
              <a:ext uri="{FF2B5EF4-FFF2-40B4-BE49-F238E27FC236}">
                <a16:creationId xmlns:a16="http://schemas.microsoft.com/office/drawing/2014/main" id="{64BF5DFD-AC76-4843-901C-36E32C3A0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105150"/>
            <a:ext cx="41052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直立姿态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1A2AAF0-0693-42F3-9FD6-50F3B70EB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6290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bullet-3">
            <a:extLst xmlns:a="http://schemas.openxmlformats.org/drawingml/2006/main">
              <a:ext uri="{FF2B5EF4-FFF2-40B4-BE49-F238E27FC236}">
                <a16:creationId xmlns:a16="http://schemas.microsoft.com/office/drawing/2014/main" id="{C25C75F6-5BDB-481F-9503-0091E2580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562350"/>
            <a:ext cx="41052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直线且高效的运动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87F3BE8-0B27-443B-8B0F-33707A8C3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0862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bullet-4">
            <a:extLst xmlns:a="http://schemas.openxmlformats.org/drawingml/2006/main">
              <a:ext uri="{FF2B5EF4-FFF2-40B4-BE49-F238E27FC236}">
                <a16:creationId xmlns:a16="http://schemas.microsoft.com/office/drawing/2014/main" id="{CE8278EB-36CF-479D-BB86-12A3D61C9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4019550"/>
            <a:ext cx="41052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平滑动作或步态模式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803BD59-62ED-42CA-BC59-90BB6ED54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972050"/>
            <a:ext cx="109347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27E3045-366F-4A2F-A853-3B26E7D2A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162550"/>
            <a:ext cx="1790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 i="0">
                <a:solidFill>
                  <a:srgbClr val="1557A0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1557A0"/>
                </a:solidFill>
                <a:latin typeface="Arial"/>
                <a:ea typeface="Arial"/>
                <a:cs typeface="Arial"/>
              </a:rPr>
              <a:t>接触成本截断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35CA545-00C2-4EB0-B63E-88E488927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5124450"/>
            <a:ext cx="8420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接触力各分量在平方前被截断；超过截断上限后，该成本分量不再增加。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81F060D-5674-41B7-96FA-0F5387DC3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24550"/>
            <a:ext cx="10934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 i="0">
                <a:solidFill>
                  <a:srgbClr val="1557A0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1557A0"/>
                </a:solidFill>
                <a:latin typeface="Arial"/>
                <a:ea typeface="Arial"/>
                <a:cs typeface="Arial"/>
              </a:rPr>
              <a:t>复现排序分歧  →  测试针对机制的候选方案</a:t>
            </a:r>
          </a:p>
        </p:txBody>
      </p:sp>
      <p:sp>
        <p:nvSpPr>
          <p:cNvPr id="29" name="short-source-label">
            <a:extLst xmlns:a="http://schemas.openxmlformats.org/drawingml/2006/main">
              <a:ext uri="{FF2B5EF4-FFF2-40B4-BE49-F238E27FC236}">
                <a16:creationId xmlns:a16="http://schemas.microsoft.com/office/drawing/2014/main" id="{25DCE636-2151-4E97-8A3F-BA3D430BF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545B66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545B66"/>
                </a:solidFill>
                <a:latin typeface="Arial"/>
                <a:ea typeface="Arial"/>
                <a:cs typeface="Arial"/>
              </a:rPr>
              <a:t>来源：Farama Foundation（无日期）；Pan、Bhatia 和 Steinhardt（2022）；项目接触诊断。</a:t>
            </a:r>
          </a:p>
        </p:txBody>
      </p:sp>
    </p:spTree>
    <p:extLst>
      <p:ext uri="{BB962C8B-B14F-4D97-AF65-F5344CB8AC3E}">
        <p14:creationId xmlns:p14="http://schemas.microsoft.com/office/powerpoint/2010/main" val="107854351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slide-6-title">
            <a:extLst xmlns:a="http://schemas.openxmlformats.org/drawingml/2006/main">
              <a:ext uri="{FF2B5EF4-FFF2-40B4-BE49-F238E27FC236}">
                <a16:creationId xmlns:a16="http://schemas.microsoft.com/office/drawing/2014/main" id="{D1F69E18-8F29-4FE4-8EF5-4F9616AC5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1095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六轮开发逐步收窄了研究问题</a:t>
            </a:r>
          </a:p>
        </p:txBody>
      </p:sp>
      <p:sp>
        <p:nvSpPr>
          <p:cNvPr id="2" name="slide-6-number">
            <a:extLst xmlns:a="http://schemas.openxmlformats.org/drawingml/2006/main">
              <a:ext uri="{FF2B5EF4-FFF2-40B4-BE49-F238E27FC236}">
                <a16:creationId xmlns:a16="http://schemas.microsoft.com/office/drawing/2014/main" id="{8B67AA5D-0F0A-4AD4-AF4C-088DEB62B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390525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0" i="0">
                <a:solidFill>
                  <a:srgbClr val="545B66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45B66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cxnSp>
        <p:nvCxnSpPr>
          <p:cNvPr id="73" name=""/>
          <p:cNvCxnSpPr/>
          <p:nvPr/>
        </p:nvCxnSpPr>
        <p:spPr>
          <a:xfrm xmlns:a="http://schemas.openxmlformats.org/drawingml/2006/main">
            <a:off x="457200" y="1000125"/>
            <a:ext cx="1127760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485227-BF9F-487F-8FF1-E0049AFE2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62050"/>
            <a:ext cx="10934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B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4B4BC5-2E52-47E1-95D3-F5BE8F9FD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66825"/>
            <a:ext cx="10629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 i="0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D55E00"/>
                </a:solidFill>
                <a:latin typeface="Arial"/>
                <a:ea typeface="Arial"/>
                <a:cs typeface="Arial"/>
              </a:rPr>
              <a:t>探索性开发路径——并非验证性证据</a:t>
            </a:r>
          </a:p>
        </p:txBody>
      </p:sp>
      <p:cxnSp>
        <p:nvCxnSpPr>
          <p:cNvPr id="76" name=""/>
          <p:cNvCxnSpPr/>
          <p:nvPr/>
        </p:nvCxnSpPr>
        <p:spPr>
          <a:xfrm xmlns:a="http://schemas.openxmlformats.org/drawingml/2006/main">
            <a:off x="1676400" y="2143125"/>
            <a:ext cx="8839200" cy="95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DDA5F3-0ECA-4C3E-BF8A-74C641467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1971675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BE78F6-017E-48B6-AE49-ACDD10514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009775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D76974-209F-41F1-9B52-3F835FDCA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24574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姿态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C9CD68-BB0C-4624-AFA8-71338DBFB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838450"/>
            <a:ext cx="3143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0" i="0">
                <a:solidFill>
                  <a:srgbClr val="545B66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545B66"/>
                </a:solidFill>
                <a:latin typeface="Arial"/>
                <a:ea typeface="Arial"/>
                <a:cs typeface="Arial"/>
              </a:rPr>
              <a:t>筛查倒置行为。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EBAE47-76A1-4337-8355-1F98F89D0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1971675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DD1A8F-3CB2-45D0-A557-0E03887A2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009775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142B50D-67DA-4243-A5A5-A43329D31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4574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动作变化率投影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11FB5E-D0E3-4BD7-86AD-C52898500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838450"/>
            <a:ext cx="3143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0" i="0">
                <a:solidFill>
                  <a:srgbClr val="545B66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545B66"/>
                </a:solidFill>
                <a:latin typeface="Arial"/>
                <a:ea typeface="Arial"/>
                <a:cs typeface="Arial"/>
              </a:rPr>
              <a:t>比较执行动作与策略提议动作。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BE4AA2D-890D-4C3E-8C70-FB8476B8B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1971675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96E5383-E4D6-41C6-868F-43B348607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2009775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7EBE24A-D8F4-4677-8809-F1EDA6328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4574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可观测横向项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544DA94-D6E1-445A-B3F2-9F7584F85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2838450"/>
            <a:ext cx="3143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0" i="0">
                <a:solidFill>
                  <a:srgbClr val="545B66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545B66"/>
                </a:solidFill>
                <a:latin typeface="Arial"/>
                <a:ea typeface="Arial"/>
                <a:cs typeface="Arial"/>
              </a:rPr>
              <a:t>用横向速度替代隐藏的绝对 y。</a:t>
            </a:r>
          </a:p>
        </p:txBody>
      </p:sp>
      <p:cxnSp>
        <p:nvCxnSpPr>
          <p:cNvPr id="89" name=""/>
          <p:cNvCxnSpPr/>
          <p:nvPr/>
        </p:nvCxnSpPr>
        <p:spPr>
          <a:xfrm xmlns:a="http://schemas.openxmlformats.org/drawingml/2006/main">
            <a:off x="1676400" y="4295775"/>
            <a:ext cx="8839200" cy="95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F10DE52-A99C-464E-BA1D-629FD7D19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124325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80A657A-6FF2-426D-8B7C-3C073390E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162425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F6BC315-F4AD-4F2F-9AF5-BEDCA28FE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46101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目标速度 + 动作变化率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D63760F-7310-467B-9A7E-8B31120B8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4991100"/>
            <a:ext cx="3143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0" i="0">
                <a:solidFill>
                  <a:srgbClr val="545B66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545B66"/>
                </a:solidFill>
                <a:latin typeface="Arial"/>
                <a:ea typeface="Arial"/>
                <a:cs typeface="Arial"/>
              </a:rPr>
              <a:t>测试目标跟踪与提议动作平滑度。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525E7DA-905B-4C03-A1D3-316AB941A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4124325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435A88D-6C3F-4B59-835A-4080D8ADD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4162425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624BBCE-68DC-4B07-8497-4B8516FDC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6101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接触诊断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0DD8CCE-44EA-4C0E-AEEE-42B51B55C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4991100"/>
            <a:ext cx="3143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0" i="0">
                <a:solidFill>
                  <a:srgbClr val="545B66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545B66"/>
                </a:solidFill>
                <a:latin typeface="Arial"/>
                <a:ea typeface="Arial"/>
                <a:cs typeface="Arial"/>
              </a:rPr>
              <a:t>记录残余腾空与飞行。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9D65E31-5351-4499-8D44-280FD4D25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4124325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9DCED94-FAC6-462C-ACEE-D021FEED2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4162425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852FE8C-BEE4-4702-9EF1-3EC883771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46101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身体动力学塑形 + gSDE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AB262C6-394D-48CE-9140-D92A67508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4991100"/>
            <a:ext cx="3143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0" i="0">
                <a:solidFill>
                  <a:srgbClr val="545B66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545B66"/>
                </a:solidFill>
                <a:latin typeface="Arial"/>
                <a:ea typeface="Arial"/>
                <a:cs typeface="Arial"/>
              </a:rPr>
              <a:t>筛查身体动力学与每 8 步重采样的 gSDE。</a:t>
            </a:r>
          </a:p>
        </p:txBody>
      </p:sp>
      <p:sp>
        <p:nvSpPr>
          <p:cNvPr id="32" name="short-source-label">
            <a:extLst xmlns:a="http://schemas.openxmlformats.org/drawingml/2006/main">
              <a:ext uri="{FF2B5EF4-FFF2-40B4-BE49-F238E27FC236}">
                <a16:creationId xmlns:a16="http://schemas.microsoft.com/office/drawing/2014/main" id="{968B9320-DBF9-48D8-BD68-BA00F0B5D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545B66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545B66"/>
                </a:solidFill>
                <a:latin typeface="Arial"/>
                <a:ea typeface="Arial"/>
                <a:cs typeface="Arial"/>
              </a:rPr>
              <a:t>项目证据：TEAM_PROGRESS_UPDATE_20260816；CURRENT_DEVELOPMENT_SYNTHESIS_20260816。</a:t>
            </a:r>
          </a:p>
        </p:txBody>
      </p:sp>
    </p:spTree>
    <p:extLst>
      <p:ext uri="{BB962C8B-B14F-4D97-AF65-F5344CB8AC3E}">
        <p14:creationId xmlns:p14="http://schemas.microsoft.com/office/powerpoint/2010/main" val="35338403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slide-7-title">
            <a:extLst xmlns:a="http://schemas.openxmlformats.org/drawingml/2006/main">
              <a:ext uri="{FF2B5EF4-FFF2-40B4-BE49-F238E27FC236}">
                <a16:creationId xmlns:a16="http://schemas.microsoft.com/office/drawing/2014/main" id="{AAEEB21D-FBBE-432A-B592-EF378B205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1095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一次回放记录到反复腾空</a:t>
            </a:r>
          </a:p>
        </p:txBody>
      </p:sp>
      <p:sp>
        <p:nvSpPr>
          <p:cNvPr id="2" name="slide-7-number">
            <a:extLst xmlns:a="http://schemas.openxmlformats.org/drawingml/2006/main">
              <a:ext uri="{FF2B5EF4-FFF2-40B4-BE49-F238E27FC236}">
                <a16:creationId xmlns:a16="http://schemas.microsoft.com/office/drawing/2014/main" id="{E71C8538-BE06-49BA-8FD1-AAA8684C4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390525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0" i="0">
                <a:solidFill>
                  <a:srgbClr val="545B66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45B66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cxnSp>
        <p:nvCxnSpPr>
          <p:cNvPr id="34" name=""/>
          <p:cNvCxnSpPr/>
          <p:nvPr/>
        </p:nvCxnSpPr>
        <p:spPr>
          <a:xfrm xmlns:a="http://schemas.openxmlformats.org/drawingml/2006/main">
            <a:off x="457200" y="1000125"/>
            <a:ext cx="1127760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88A587-E97D-421D-B64E-6219776E3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81100"/>
            <a:ext cx="109347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C25D5C-36DB-41C9-9530-FF929A947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343025"/>
            <a:ext cx="1062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0" i="0">
                <a:solidFill>
                  <a:srgbClr val="545B66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545B66"/>
                </a:solidFill>
                <a:latin typeface="Arial"/>
                <a:ea typeface="Arial"/>
                <a:cs typeface="Arial"/>
              </a:rPr>
              <a:t>Rt0p1_Rvy0__K1p1  |  训练种子 41301  |  评估种子 51301  |  训练 300,000 步  |  50 秒</a:t>
            </a:r>
          </a:p>
        </p:txBody>
      </p:sp>
      <p:cxnSp>
        <p:nvCxnSpPr>
          <p:cNvPr id="37" name=""/>
          <p:cNvCxnSpPr/>
          <p:nvPr/>
        </p:nvCxnSpPr>
        <p:spPr>
          <a:xfrm xmlns:a="http://schemas.openxmlformats.org/drawingml/2006/main">
            <a:off x="4257675" y="2057400"/>
            <a:ext cx="9525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cxnSp>
        <p:nvCxnSpPr>
          <p:cNvPr id="38" name=""/>
          <p:cNvCxnSpPr/>
          <p:nvPr/>
        </p:nvCxnSpPr>
        <p:spPr>
          <a:xfrm xmlns:a="http://schemas.openxmlformats.org/drawingml/2006/main">
            <a:off x="7934325" y="2057400"/>
            <a:ext cx="9525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8" name="metric-take-offs with root vertical&#10;velocity ≥ 1.25 m/s">
            <a:extLst xmlns:a="http://schemas.openxmlformats.org/drawingml/2006/main">
              <a:ext uri="{FF2B5EF4-FFF2-40B4-BE49-F238E27FC236}">
                <a16:creationId xmlns:a16="http://schemas.microsoft.com/office/drawing/2014/main" id="{4CF1ED75-6F8A-49F2-AB67-1C82D08CA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47900"/>
            <a:ext cx="323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4350" b="1" i="0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4350" b="1" i="0">
                <a:solidFill>
                  <a:srgbClr val="D55E00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9" name="metric-label-take-offs with root vertical&#10;velocity ≥ 1.25 m/s">
            <a:extLst xmlns:a="http://schemas.openxmlformats.org/drawingml/2006/main">
              <a:ext uri="{FF2B5EF4-FFF2-40B4-BE49-F238E27FC236}">
                <a16:creationId xmlns:a16="http://schemas.microsoft.com/office/drawing/2014/main" id="{1AD22332-9C03-406D-8C0C-328F1CFDC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28950"/>
            <a:ext cx="3009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0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根部竖直速度 ≥ 1.25 m/s 的</a:t>
            </a:r>
          </a:p>
          <a:p xmlns:a="http://schemas.openxmlformats.org/drawingml/2006/main">
            <a:pPr algn="ctr">
              <a:buNone/>
              <a:defRPr sz="1650" b="0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腾空事件数</a:t>
            </a:r>
          </a:p>
        </p:txBody>
      </p:sp>
      <p:sp>
        <p:nvSpPr>
          <p:cNvPr id="10" name="metric-steps without floor contact">
            <a:extLst xmlns:a="http://schemas.openxmlformats.org/drawingml/2006/main">
              <a:ext uri="{FF2B5EF4-FFF2-40B4-BE49-F238E27FC236}">
                <a16:creationId xmlns:a16="http://schemas.microsoft.com/office/drawing/2014/main" id="{1894C3BF-EF87-4738-B87D-FDA26032F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247900"/>
            <a:ext cx="323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43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43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52.9%</a:t>
            </a:r>
          </a:p>
        </p:txBody>
      </p:sp>
      <p:sp>
        <p:nvSpPr>
          <p:cNvPr id="11" name="metric-label-steps without floor contact">
            <a:extLst xmlns:a="http://schemas.openxmlformats.org/drawingml/2006/main">
              <a:ext uri="{FF2B5EF4-FFF2-40B4-BE49-F238E27FC236}">
                <a16:creationId xmlns:a16="http://schemas.microsoft.com/office/drawing/2014/main" id="{B820B31A-284D-4451-9549-3E196D011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028950"/>
            <a:ext cx="3009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0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无地面接触步数占比</a:t>
            </a:r>
          </a:p>
        </p:txBody>
      </p:sp>
      <p:sp>
        <p:nvSpPr>
          <p:cNvPr id="12" name="metric-maximum root vertical velocity">
            <a:extLst xmlns:a="http://schemas.openxmlformats.org/drawingml/2006/main">
              <a:ext uri="{FF2B5EF4-FFF2-40B4-BE49-F238E27FC236}">
                <a16:creationId xmlns:a16="http://schemas.microsoft.com/office/drawing/2014/main" id="{C17E10DD-E27F-46F0-9C34-FFF2477F5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247900"/>
            <a:ext cx="323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4350" b="1" i="0">
                <a:solidFill>
                  <a:srgbClr val="009E73"/>
                </a:solidFill>
                <a:latin typeface="Arial"/>
                <a:ea typeface="Arial"/>
                <a:cs typeface="Arial"/>
              </a:defRPr>
            </a:pPr>
            <a:r>
              <a:rPr sz="4350" b="1" i="0">
                <a:solidFill>
                  <a:srgbClr val="009E73"/>
                </a:solidFill>
                <a:latin typeface="Arial"/>
                <a:ea typeface="Arial"/>
                <a:cs typeface="Arial"/>
              </a:rPr>
              <a:t>2.540 m/s</a:t>
            </a:r>
          </a:p>
        </p:txBody>
      </p:sp>
      <p:sp>
        <p:nvSpPr>
          <p:cNvPr id="13" name="metric-label-maximum root vertical velocity">
            <a:extLst xmlns:a="http://schemas.openxmlformats.org/drawingml/2006/main">
              <a:ext uri="{FF2B5EF4-FFF2-40B4-BE49-F238E27FC236}">
                <a16:creationId xmlns:a16="http://schemas.microsoft.com/office/drawing/2014/main" id="{15A8A5FD-8F39-4E4F-B6A7-94C118EED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028950"/>
            <a:ext cx="3009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0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最大根部竖直速度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FC4E7F6-B5CB-4A55-80E3-755437D74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238625"/>
            <a:ext cx="101346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3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089303D-086C-4BB0-B430-6D1265A72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457700"/>
            <a:ext cx="9563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在该回合中，较低的动作粗糙度与反复腾空同时出现。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3ABBB1D-1F2D-4EC3-B714-257664426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343525"/>
            <a:ext cx="101346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0" i="0">
                <a:solidFill>
                  <a:srgbClr val="545B66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545B66"/>
                </a:solidFill>
                <a:latin typeface="Arial"/>
                <a:ea typeface="Arial"/>
                <a:cs typeface="Arial"/>
              </a:rPr>
              <a:t>边界：单次确定性回放只能识别候选失败模式；不能估计发生率，也不能证明机制或因果关系。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BA0E1C1-23AC-4C0E-A74F-AC78CF95D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57950"/>
            <a:ext cx="1047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545B66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545B66"/>
                </a:solidFill>
                <a:latin typeface="Arial"/>
                <a:ea typeface="Arial"/>
                <a:cs typeface="Arial"/>
              </a:rPr>
              <a:t>来源 · jump_contact_gait_summary.json · 回放误差 ≤ 7.2 × 10⁻¹⁵</a:t>
            </a:r>
          </a:p>
        </p:txBody>
      </p:sp>
    </p:spTree>
    <p:extLst>
      <p:ext uri="{BB962C8B-B14F-4D97-AF65-F5344CB8AC3E}">
        <p14:creationId xmlns:p14="http://schemas.microsoft.com/office/powerpoint/2010/main" val="209278574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slide-8-title">
            <a:extLst xmlns:a="http://schemas.openxmlformats.org/drawingml/2006/main">
              <a:ext uri="{FF2B5EF4-FFF2-40B4-BE49-F238E27FC236}">
                <a16:creationId xmlns:a16="http://schemas.microsoft.com/office/drawing/2014/main" id="{C9507AC0-D5B7-4940-A814-0236E3154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1095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动作变化率塑形仍存在明显权衡</a:t>
            </a:r>
          </a:p>
        </p:txBody>
      </p:sp>
      <p:sp>
        <p:nvSpPr>
          <p:cNvPr id="2" name="slide-8-number">
            <a:extLst xmlns:a="http://schemas.openxmlformats.org/drawingml/2006/main">
              <a:ext uri="{FF2B5EF4-FFF2-40B4-BE49-F238E27FC236}">
                <a16:creationId xmlns:a16="http://schemas.microsoft.com/office/drawing/2014/main" id="{3126AE63-D044-44A0-A66D-9B99177F2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390525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0" i="0">
                <a:solidFill>
                  <a:srgbClr val="545B66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45B66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cxnSp>
        <p:nvCxnSpPr>
          <p:cNvPr id="18" name=""/>
          <p:cNvCxnSpPr/>
          <p:nvPr/>
        </p:nvCxnSpPr>
        <p:spPr>
          <a:xfrm xmlns:a="http://schemas.openxmlformats.org/drawingml/2006/main">
            <a:off x="457200" y="1000125"/>
            <a:ext cx="1127760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2213B5-0DEB-40FB-A83B-355B7FC1F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23950"/>
            <a:ext cx="1082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 i="0">
                <a:solidFill>
                  <a:srgbClr val="1557A0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557A0"/>
                </a:solidFill>
                <a:latin typeface="Arial"/>
                <a:ea typeface="Arial"/>
                <a:cs typeface="Arial"/>
              </a:rPr>
              <a:t>速度 0.844 → 0.918 m/s   |   动作粗糙度 0.0139 → 0.00985   |   路径效率 0.809 → 0.857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54B939-01E7-4B39-AA6F-B210540D4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082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D55E00"/>
                </a:solidFill>
                <a:latin typeface="Arial"/>
                <a:ea typeface="Arial"/>
                <a:cs typeface="Arial"/>
              </a:rPr>
              <a:t>方向误差 6.40° → 10.65°   |   预期行为符合率 23.3% → 6.7%   |   两组探索性跳跃标记率均为 100%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cf3950db6343fd"/>
          <a:stretch xmlns:a="http://schemas.openxmlformats.org/drawingml/2006/main"/>
        </p:blipFill>
        <p:spPr>
          <a:xfrm xmlns:a="http://schemas.openxmlformats.org/drawingml/2006/main">
            <a:off x="2015320" y="1752600"/>
            <a:ext cx="8161360" cy="4476750"/>
          </a:xfrm>
          <a:prstGeom xmlns:a="http://schemas.openxmlformats.org/drawingml/2006/main" prst="rect">
            <a:avLst/>
          </a:prstGeom>
        </p:spPr>
      </p:pic>
      <p:sp>
        <p:nvSpPr>
          <p:cNvPr id="7" name="short-source-label">
            <a:extLst xmlns:a="http://schemas.openxmlformats.org/drawingml/2006/main">
              <a:ext uri="{FF2B5EF4-FFF2-40B4-BE49-F238E27FC236}">
                <a16:creationId xmlns:a16="http://schemas.microsoft.com/office/drawing/2014/main" id="{D76805F1-8DBD-4C29-AE28-141546210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545B66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545B66"/>
                </a:solidFill>
                <a:latin typeface="Arial"/>
                <a:ea typeface="Arial"/>
                <a:cs typeface="Arial"/>
              </a:rPr>
              <a:t>开发均值：每条件 n=3 个独立策略；每策略 10 个核心回合；接触诊断每策略仅用 1 个固定回放种子。</a:t>
            </a:r>
          </a:p>
        </p:txBody>
      </p:sp>
    </p:spTree>
    <p:extLst>
      <p:ext uri="{BB962C8B-B14F-4D97-AF65-F5344CB8AC3E}">
        <p14:creationId xmlns:p14="http://schemas.microsoft.com/office/powerpoint/2010/main" val="202251958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slide-9-title">
            <a:extLst xmlns:a="http://schemas.openxmlformats.org/drawingml/2006/main">
              <a:ext uri="{FF2B5EF4-FFF2-40B4-BE49-F238E27FC236}">
                <a16:creationId xmlns:a16="http://schemas.microsoft.com/office/drawing/2014/main" id="{A7318DF1-8BAF-42D1-A74C-FAC6803BB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1095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身体塑形改善部分指标；gSDE G8 未通过</a:t>
            </a:r>
          </a:p>
        </p:txBody>
      </p:sp>
      <p:sp>
        <p:nvSpPr>
          <p:cNvPr id="2" name="slide-9-number">
            <a:extLst xmlns:a="http://schemas.openxmlformats.org/drawingml/2006/main">
              <a:ext uri="{FF2B5EF4-FFF2-40B4-BE49-F238E27FC236}">
                <a16:creationId xmlns:a16="http://schemas.microsoft.com/office/drawing/2014/main" id="{226FF4D9-B5C2-4FDB-9ED5-B9B2C8283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390525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0" i="0">
                <a:solidFill>
                  <a:srgbClr val="545B66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45B66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cxnSp>
        <p:nvCxnSpPr>
          <p:cNvPr id="18" name=""/>
          <p:cNvCxnSpPr/>
          <p:nvPr/>
        </p:nvCxnSpPr>
        <p:spPr>
          <a:xfrm xmlns:a="http://schemas.openxmlformats.org/drawingml/2006/main">
            <a:off x="457200" y="1000125"/>
            <a:ext cx="1127760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C3943E-B407-4939-8680-CA85808EE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082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 i="0">
                <a:solidFill>
                  <a:srgbClr val="1557A0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557A0"/>
                </a:solidFill>
                <a:latin typeface="Arial"/>
                <a:ea typeface="Arial"/>
                <a:cs typeface="Arial"/>
              </a:rPr>
              <a:t>高斯探索：速度 0.961 → 0.931 m/s  |  无地面接触步数占比 0.526 → 0.465  |  腾空次数 21.1 → 3.77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78B52E-2235-426D-B2E2-B08C097A1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10820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 i="0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D55E00"/>
                </a:solidFill>
                <a:latin typeface="Arial"/>
                <a:ea typeface="Arial"/>
                <a:cs typeface="Arial"/>
              </a:rPr>
              <a:t>路径效率 0.931 → 0.879  |  两组预期行为符合率均为 0%  |  gSDE G8：不健康终止率 100%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40356708b5414b"/>
          <a:stretch xmlns:a="http://schemas.openxmlformats.org/drawingml/2006/main"/>
        </p:blipFill>
        <p:spPr>
          <a:xfrm xmlns:a="http://schemas.openxmlformats.org/drawingml/2006/main">
            <a:off x="2106292" y="1752600"/>
            <a:ext cx="7979416" cy="4476750"/>
          </a:xfrm>
          <a:prstGeom xmlns:a="http://schemas.openxmlformats.org/drawingml/2006/main" prst="rect">
            <a:avLst/>
          </a:prstGeom>
        </p:spPr>
      </p:pic>
      <p:sp>
        <p:nvSpPr>
          <p:cNvPr id="7" name="short-source-label">
            <a:extLst xmlns:a="http://schemas.openxmlformats.org/drawingml/2006/main">
              <a:ext uri="{FF2B5EF4-FFF2-40B4-BE49-F238E27FC236}">
                <a16:creationId xmlns:a16="http://schemas.microsoft.com/office/drawing/2014/main" id="{AC3A9828-27F8-4088-B3F3-2F2C1CBFF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545B66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545B66"/>
                </a:solidFill>
                <a:latin typeface="Arial"/>
                <a:ea typeface="Arial"/>
                <a:cs typeface="Arial"/>
              </a:rPr>
              <a:t>仅具部分开发证据：每单元 n=3 个独立策略；每策略 10 个终点回合；结论仅排除这一 gSDE 设置。</a:t>
            </a:r>
          </a:p>
        </p:txBody>
      </p:sp>
    </p:spTree>
    <p:extLst>
      <p:ext uri="{BB962C8B-B14F-4D97-AF65-F5344CB8AC3E}">
        <p14:creationId xmlns:p14="http://schemas.microsoft.com/office/powerpoint/2010/main" val="30398954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slide-10-title">
            <a:extLst xmlns:a="http://schemas.openxmlformats.org/drawingml/2006/main">
              <a:ext uri="{FF2B5EF4-FFF2-40B4-BE49-F238E27FC236}">
                <a16:creationId xmlns:a16="http://schemas.microsoft.com/office/drawing/2014/main" id="{43A3F973-F9DE-4FED-8B3B-6C617CFAA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1095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两个科学定义仍未解决</a:t>
            </a:r>
          </a:p>
        </p:txBody>
      </p:sp>
      <p:sp>
        <p:nvSpPr>
          <p:cNvPr id="2" name="slide-10-number">
            <a:extLst xmlns:a="http://schemas.openxmlformats.org/drawingml/2006/main">
              <a:ext uri="{FF2B5EF4-FFF2-40B4-BE49-F238E27FC236}">
                <a16:creationId xmlns:a16="http://schemas.microsoft.com/office/drawing/2014/main" id="{C20EB8E1-40F3-43E3-90B2-578E013A1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390525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0" i="0">
                <a:solidFill>
                  <a:srgbClr val="545B66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45B66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cxnSp>
        <p:nvCxnSpPr>
          <p:cNvPr id="25" name=""/>
          <p:cNvCxnSpPr/>
          <p:nvPr/>
        </p:nvCxnSpPr>
        <p:spPr>
          <a:xfrm xmlns:a="http://schemas.openxmlformats.org/drawingml/2006/main">
            <a:off x="457200" y="1000125"/>
            <a:ext cx="1127760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8206F6-904B-449C-84A1-8EA012DB5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62050"/>
            <a:ext cx="10934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 i="0">
                <a:solidFill>
                  <a:srgbClr val="545B66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545B66"/>
                </a:solidFill>
                <a:latin typeface="Arial"/>
                <a:ea typeface="Arial"/>
                <a:cs typeface="Arial"/>
              </a:rPr>
              <a:t>这些定义决定了最终实验可以合理支持哪些结论。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F10164-133F-4ED2-BDEA-05A03AE6E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52600"/>
            <a:ext cx="5219700" cy="3105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1AC7ED-900A-4E4C-BD16-4395B321D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000250"/>
            <a:ext cx="685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A61F61-9963-4B0E-BB0F-44B5835DB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67000"/>
            <a:ext cx="4381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尚未将“生物学步态”操作化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6968AD-4B17-424F-93D6-3010A9215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562350"/>
            <a:ext cx="4381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 i="0">
                <a:solidFill>
                  <a:srgbClr val="545B66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545B66"/>
                </a:solidFill>
                <a:latin typeface="Arial"/>
                <a:ea typeface="Arial"/>
                <a:cs typeface="Arial"/>
              </a:rPr>
              <a:t>现有指标描述稳定性、方向、动作质量和接触行为；尚未冻结爬行、小跑、同侧步或跃步分类器。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6D5370-90BB-4F4D-B307-EC354B8B1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752600"/>
            <a:ext cx="5219700" cy="3105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D6BA16-57BA-4D3D-943A-1FD594D00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000250"/>
            <a:ext cx="685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 i="0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D55E0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AAD2A6-642D-4F39-BDED-B251366DD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667000"/>
            <a:ext cx="4381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执行动作平滑不等于策略提议平滑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9D14FA-B9F0-4352-A483-C4A18FF36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562350"/>
            <a:ext cx="4381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 i="0">
                <a:solidFill>
                  <a:srgbClr val="545B66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545B66"/>
                </a:solidFill>
                <a:latin typeface="Arial"/>
                <a:ea typeface="Arial"/>
                <a:cs typeface="Arial"/>
              </a:rPr>
              <a:t>外部投影在约 98.4%–98.7% 的步数中介入。因此，执行动作平滑并不能证明 PPO 提议本身平滑。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9AF8005-5558-442A-BD84-2755D7C9F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162550"/>
            <a:ext cx="109347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3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B85D681-DD67-4BE2-AF88-483220583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343525"/>
            <a:ext cx="1381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含义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58EC725-01A4-4B58-B456-827AEDA6A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314950"/>
            <a:ext cx="8858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分别报告提议动作与执行动作；在预先声明接触相位协议或验证步态分类协议之前，不作出生物学步态结论。</a:t>
            </a:r>
          </a:p>
        </p:txBody>
      </p:sp>
      <p:sp>
        <p:nvSpPr>
          <p:cNvPr id="16" name="short-source-label">
            <a:extLst xmlns:a="http://schemas.openxmlformats.org/drawingml/2006/main">
              <a:ext uri="{FF2B5EF4-FFF2-40B4-BE49-F238E27FC236}">
                <a16:creationId xmlns:a16="http://schemas.microsoft.com/office/drawing/2014/main" id="{BCD562A8-F904-4689-96AC-3C647C7AB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545B66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545B66"/>
                </a:solidFill>
                <a:latin typeface="Arial"/>
                <a:ea typeface="Arial"/>
                <a:cs typeface="Arial"/>
              </a:rPr>
              <a:t>来源：Aractingi 等（2023）；可观测性修正配置；TEAM_PROGRESS_UPDATE；CURRENT_DEVELOPMENT_SYNTHESIS。</a:t>
            </a:r>
          </a:p>
        </p:txBody>
      </p:sp>
    </p:spTree>
    <p:extLst>
      <p:ext uri="{BB962C8B-B14F-4D97-AF65-F5344CB8AC3E}">
        <p14:creationId xmlns:p14="http://schemas.microsoft.com/office/powerpoint/2010/main" val="134666814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slide-11-title">
            <a:extLst xmlns:a="http://schemas.openxmlformats.org/drawingml/2006/main">
              <a:ext uri="{FF2B5EF4-FFF2-40B4-BE49-F238E27FC236}">
                <a16:creationId xmlns:a16="http://schemas.microsoft.com/office/drawing/2014/main" id="{0E55F11A-09E5-477C-B108-F2DDBC00E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1095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下一关：协议冻结</a:t>
            </a:r>
          </a:p>
        </p:txBody>
      </p:sp>
      <p:sp>
        <p:nvSpPr>
          <p:cNvPr id="2" name="slide-11-number">
            <a:extLst xmlns:a="http://schemas.openxmlformats.org/drawingml/2006/main">
              <a:ext uri="{FF2B5EF4-FFF2-40B4-BE49-F238E27FC236}">
                <a16:creationId xmlns:a16="http://schemas.microsoft.com/office/drawing/2014/main" id="{5D75F1D5-642D-4515-9C3D-0934330A5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390525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0" i="0">
                <a:solidFill>
                  <a:srgbClr val="545B66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45B66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cxnSp>
        <p:nvCxnSpPr>
          <p:cNvPr id="48" name=""/>
          <p:cNvCxnSpPr/>
          <p:nvPr/>
        </p:nvCxnSpPr>
        <p:spPr>
          <a:xfrm xmlns:a="http://schemas.openxmlformats.org/drawingml/2006/main">
            <a:off x="457200" y="1000125"/>
            <a:ext cx="1127760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DAC31F-3164-422D-B109-10B5A3D7A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62050"/>
            <a:ext cx="109347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B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D17818-EF10-4C8D-BE68-4C4A4027F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314450"/>
            <a:ext cx="10515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 i="0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D55E00"/>
                </a:solidFill>
                <a:latin typeface="Arial"/>
                <a:ea typeface="Arial"/>
                <a:cs typeface="Arial"/>
              </a:rPr>
              <a:t>开发分析已完成；正式候选尚未通过工程验证；科学主张仍未解决；尚未授权使用留出种子训练。</a:t>
            </a:r>
          </a:p>
        </p:txBody>
      </p:sp>
      <p:cxnSp>
        <p:nvCxnSpPr>
          <p:cNvPr id="51" name=""/>
          <p:cNvCxnSpPr/>
          <p:nvPr/>
        </p:nvCxnSpPr>
        <p:spPr>
          <a:xfrm xmlns:a="http://schemas.openxmlformats.org/drawingml/2006/main">
            <a:off x="5905500" y="2190750"/>
            <a:ext cx="381000" cy="952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8DFF"/>
            </a:solidFill>
            <a:prstDash val="solid"/>
          </a:ln>
        </p:spPr>
      </p:cxn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DA3E0B-707E-4F7B-882D-133CA8B38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047875"/>
            <a:ext cx="523875" cy="3238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6F9AED-4988-4616-A922-D898F98E9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14550"/>
            <a:ext cx="4991100" cy="2533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B9B7C1-8AB6-42F5-8D01-12F626BB7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43150"/>
            <a:ext cx="133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1557A0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557A0"/>
                </a:solidFill>
                <a:latin typeface="Arial"/>
                <a:ea typeface="Arial"/>
                <a:cs typeface="Arial"/>
              </a:rPr>
              <a:t>阶段 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1B8880-2AEB-4003-A081-9E5CA7B5A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762250"/>
            <a:ext cx="409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冻结审计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E8269B-C221-4B6A-81B9-AA735160D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813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bullet-1">
            <a:extLst xmlns:a="http://schemas.openxmlformats.org/drawingml/2006/main">
              <a:ext uri="{FF2B5EF4-FFF2-40B4-BE49-F238E27FC236}">
                <a16:creationId xmlns:a16="http://schemas.microsoft.com/office/drawing/2014/main" id="{F072E039-5C55-4CDA-9235-71A87DAEC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314700"/>
            <a:ext cx="3962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冻结预期行为与默认奖励审计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880412A-DA68-44A9-89AF-CF17EA7F7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004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bullet-2">
            <a:extLst xmlns:a="http://schemas.openxmlformats.org/drawingml/2006/main">
              <a:ext uri="{FF2B5EF4-FFF2-40B4-BE49-F238E27FC236}">
                <a16:creationId xmlns:a16="http://schemas.microsoft.com/office/drawing/2014/main" id="{505A2434-7862-460C-AB44-43DF4E209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733800"/>
            <a:ext cx="3962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冻结种子、检查点、指标与重跑规则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52849CB-4E9B-4D13-8757-61A8760F3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195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bullet-3">
            <a:extLst xmlns:a="http://schemas.openxmlformats.org/drawingml/2006/main">
              <a:ext uri="{FF2B5EF4-FFF2-40B4-BE49-F238E27FC236}">
                <a16:creationId xmlns:a16="http://schemas.microsoft.com/office/drawing/2014/main" id="{48EEB13A-A25A-434A-8B85-734BECF0E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152900"/>
            <a:ext cx="3962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冻结不确定性处理、排除规则和停止规则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2E5F282-4002-414C-83F8-1729515BD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114550"/>
            <a:ext cx="4991100" cy="2533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D8AF8F0-88CA-4582-BCEB-B4D609915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343150"/>
            <a:ext cx="133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D55E00"/>
                </a:solidFill>
                <a:latin typeface="Arial"/>
                <a:ea typeface="Arial"/>
                <a:cs typeface="Arial"/>
              </a:rPr>
              <a:t>阶段 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31D9DF4-6C87-45EC-B8CC-D61C87882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762250"/>
            <a:ext cx="428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实施、测试，再授权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08CD6D4-E29E-40C2-B37B-D6728A5BE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3813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bullet-1">
            <a:extLst xmlns:a="http://schemas.openxmlformats.org/drawingml/2006/main">
              <a:ext uri="{FF2B5EF4-FFF2-40B4-BE49-F238E27FC236}">
                <a16:creationId xmlns:a16="http://schemas.microsoft.com/office/drawing/2014/main" id="{4E26E176-C8BE-4274-882B-E983543A0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314700"/>
            <a:ext cx="3962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选择一个奖励方案和一个约束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47CDACD-0647-4EDE-A862-B94397EF8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8004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bullet-2">
            <a:extLst xmlns:a="http://schemas.openxmlformats.org/drawingml/2006/main">
              <a:ext uri="{FF2B5EF4-FFF2-40B4-BE49-F238E27FC236}">
                <a16:creationId xmlns:a16="http://schemas.microsoft.com/office/drawing/2014/main" id="{932E1B47-0A35-4535-ACC6-7CE4D5CA5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733800"/>
            <a:ext cx="3962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实现包装器并通过工程测试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01543EF-607F-4AEC-B711-CCB282289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2195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bullet-3">
            <a:extLst xmlns:a="http://schemas.openxmlformats.org/drawingml/2006/main">
              <a:ext uri="{FF2B5EF4-FFF2-40B4-BE49-F238E27FC236}">
                <a16:creationId xmlns:a16="http://schemas.microsoft.com/office/drawing/2014/main" id="{480ED394-B4ED-412D-AADA-884798F51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152900"/>
            <a:ext cx="3962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仅在冻结后授权正式 2 × 2 实验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437F82B-5AFC-4099-B724-660D6C37A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8577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545B66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545B66"/>
                </a:solidFill>
                <a:latin typeface="Arial"/>
                <a:ea typeface="Arial"/>
                <a:cs typeface="Arial"/>
              </a:rPr>
              <a:t>团队决策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86E9654-7C66-4D65-A4C0-9BC0950EF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18160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1557A0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557A0"/>
                </a:solidFill>
                <a:latin typeface="Arial"/>
                <a:ea typeface="Arial"/>
                <a:cs typeface="Arial"/>
              </a:rPr>
              <a:t>步态范围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866FF50-65A9-4BDD-9CDA-88DEABDF7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05450"/>
            <a:ext cx="3286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 i="0">
                <a:solidFill>
                  <a:srgbClr val="545B66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545B66"/>
                </a:solidFill>
                <a:latin typeface="Arial"/>
                <a:ea typeface="Arial"/>
                <a:cs typeface="Arial"/>
              </a:rPr>
              <a:t>一般稳定运动，还是指定步态族？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1C59743-F681-4B82-95A8-8EF77D617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518160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D55E00"/>
                </a:solidFill>
                <a:latin typeface="Arial"/>
                <a:ea typeface="Arial"/>
                <a:cs typeface="Arial"/>
              </a:rPr>
              <a:t>候选方案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20992F0-C075-42F1-864A-8DBB7C3D9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5505450"/>
            <a:ext cx="3286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 i="0">
                <a:solidFill>
                  <a:srgbClr val="545B66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545B66"/>
                </a:solidFill>
                <a:latin typeface="Arial"/>
                <a:ea typeface="Arial"/>
                <a:cs typeface="Arial"/>
              </a:rPr>
              <a:t>身体动力学塑形是否足够一致，可进入最终开发关口？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F7B9CB9-5337-4FF8-BDB3-06F08D3BF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518160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1557A0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557A0"/>
                </a:solidFill>
                <a:latin typeface="Arial"/>
                <a:ea typeface="Arial"/>
                <a:cs typeface="Arial"/>
              </a:rPr>
              <a:t>汇总方式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7FA2F01-D596-4DD4-BC9C-545B4CE49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5505450"/>
            <a:ext cx="3286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 i="0">
                <a:solidFill>
                  <a:srgbClr val="545B66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545B66"/>
                </a:solidFill>
                <a:latin typeface="Arial"/>
                <a:ea typeface="Arial"/>
                <a:cs typeface="Arial"/>
              </a:rPr>
              <a:t>百分比矩阵仅作辅助视图，并与连续指标并列呈现。</a:t>
            </a:r>
          </a:p>
        </p:txBody>
      </p:sp>
      <p:sp>
        <p:nvSpPr>
          <p:cNvPr id="33" name="short-source-label">
            <a:extLst xmlns:a="http://schemas.openxmlformats.org/drawingml/2006/main">
              <a:ext uri="{FF2B5EF4-FFF2-40B4-BE49-F238E27FC236}">
                <a16:creationId xmlns:a16="http://schemas.microsoft.com/office/drawing/2014/main" id="{AEE2E001-16B7-4837-AEA1-65AC636AB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545B66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545B66"/>
                </a:solidFill>
                <a:latin typeface="Arial"/>
                <a:ea typeface="Arial"/>
                <a:cs typeface="Arial"/>
              </a:rPr>
              <a:t>项目证据：RESEARCH_DIRECTION_20260816；hybrid_intent_constraint_design_v1；PUBLIC_RELEASE_CONTENTS_20260816。</a:t>
            </a:r>
          </a:p>
        </p:txBody>
      </p:sp>
    </p:spTree>
    <p:extLst>
      <p:ext uri="{BB962C8B-B14F-4D97-AF65-F5344CB8AC3E}">
        <p14:creationId xmlns:p14="http://schemas.microsoft.com/office/powerpoint/2010/main" val="103984281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12-title">
            <a:extLst xmlns:a="http://schemas.openxmlformats.org/drawingml/2006/main">
              <a:ext uri="{FF2B5EF4-FFF2-40B4-BE49-F238E27FC236}">
                <a16:creationId xmlns:a16="http://schemas.microsoft.com/office/drawing/2014/main" id="{CC67F035-8267-4028-8BDC-5A47EEE9C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1095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参考文献与项目证据</a:t>
            </a:r>
          </a:p>
        </p:txBody>
      </p:sp>
      <p:sp>
        <p:nvSpPr>
          <p:cNvPr id="2" name="slide-12-number">
            <a:extLst xmlns:a="http://schemas.openxmlformats.org/drawingml/2006/main">
              <a:ext uri="{FF2B5EF4-FFF2-40B4-BE49-F238E27FC236}">
                <a16:creationId xmlns:a16="http://schemas.microsoft.com/office/drawing/2014/main" id="{B86E637A-0204-475B-B0C2-2E518A36E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390525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0" i="0">
                <a:solidFill>
                  <a:srgbClr val="545B66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45B66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cxnSp>
        <p:nvCxnSpPr>
          <p:cNvPr id="27" name=""/>
          <p:cNvCxnSpPr/>
          <p:nvPr/>
        </p:nvCxnSpPr>
        <p:spPr>
          <a:xfrm xmlns:a="http://schemas.openxmlformats.org/drawingml/2006/main">
            <a:off x="457200" y="1000125"/>
            <a:ext cx="1127760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C9350A-CB0C-4B0E-AF51-0010D2E85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1920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 i="0">
                <a:solidFill>
                  <a:srgbClr val="1557A0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1557A0"/>
                </a:solidFill>
                <a:latin typeface="Arial"/>
                <a:ea typeface="Arial"/>
                <a:cs typeface="Arial"/>
              </a:rPr>
              <a:t>外部来源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4B44AC-BEAD-4E99-8DCF-464736CE2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76400"/>
            <a:ext cx="5219700" cy="436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Farama Foundation (n.d.) ‘Ant’. Gymnasium documentation.</a:t>
            </a:r>
          </a:p>
          <a:p xmlns:a="http://schemas.openxmlformats.org/drawingml/2006/main">
            <a:pPr algn="l">
              <a:buNone/>
              <a:defRPr sz="1500" b="0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gymnasium.farama.org/environments/mujoco/ant/ </a:t>
            </a:r>
            <a:r>
              <a:rPr sz="1500" b="0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（访问日期：2026年8月16日）。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00" b="0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Skalse, J., Howe, N.H.R., Krasheninnikov, D. and Krueger, D. (2022) ‘Defining and Characterizing Reward Hacking’, NeurIPS, 35, pp. 9460–9471.</a:t>
            </a:r>
          </a:p>
          <a:p xmlns:a="http://schemas.openxmlformats.org/drawingml/2006/main">
            <a:pPr algn="l">
              <a:buNone/>
              <a:defRPr sz="1500" b="0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proceedings.neurips.cc/paper/2022/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00" b="0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Pan, A., Bhatia, K. and Steinhardt, J. (2022) ‘The Effects of Reward Misspecification: Mapping and Mitigating Misaligned Models’, ICLR.</a:t>
            </a:r>
          </a:p>
          <a:p xmlns:a="http://schemas.openxmlformats.org/drawingml/2006/main">
            <a:pPr algn="l">
              <a:buNone/>
              <a:defRPr sz="1500" b="0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arxiv.org/abs/2201.03544</a:t>
            </a:r>
          </a:p>
        </p:txBody>
      </p:sp>
      <p:cxnSp>
        <p:nvCxnSpPr>
          <p:cNvPr id="30" name=""/>
          <p:cNvCxnSpPr/>
          <p:nvPr/>
        </p:nvCxnSpPr>
        <p:spPr>
          <a:xfrm xmlns:a="http://schemas.openxmlformats.org/drawingml/2006/main">
            <a:off x="6096000" y="1219200"/>
            <a:ext cx="9525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E798D3-C7BE-4981-AC34-AE2EF140B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219200"/>
            <a:ext cx="514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 i="0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D55E00"/>
                </a:solidFill>
                <a:latin typeface="Arial"/>
                <a:ea typeface="Arial"/>
                <a:cs typeface="Arial"/>
              </a:rPr>
              <a:t>外部与项目来源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3AD2A2-6127-4391-B71A-1AC88BE8A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676400"/>
            <a:ext cx="512445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Raffin, A., Kober, J. and Stulp, F. (2022) ‘Smooth Exploration for Robotic Reinforcement Learning’, PMLR, 164, pp. 1634–1644.</a:t>
            </a:r>
          </a:p>
          <a:p xmlns:a="http://schemas.openxmlformats.org/drawingml/2006/main">
            <a:pPr algn="l">
              <a:buNone/>
              <a:defRPr sz="1500" b="0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proceedings.mlr.press/v164/raffin22a.html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00" b="0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Aractingi, M. et al. (2023) ‘Controlling the Solo12 quadruped robot with deep reinforcement learning’, Scientific Reports, 13, 11945.</a:t>
            </a:r>
          </a:p>
          <a:p xmlns:a="http://schemas.openxmlformats.org/drawingml/2006/main">
            <a:pPr algn="l">
              <a:buNone/>
              <a:defRPr sz="1500" b="0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doi.org/10.1038/s41598-023-38259-7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4566FE-5C0F-4246-8517-0CCB0A0D4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400550"/>
            <a:ext cx="5124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D55E00"/>
                </a:solidFill>
                <a:latin typeface="Arial"/>
                <a:ea typeface="Arial"/>
                <a:cs typeface="Arial"/>
              </a:rPr>
              <a:t>项目快照 · 2026年8月16日 · 基线 2aa18d8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F3249D-7EFF-4D8D-87F9-5E76D815D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724400"/>
            <a:ext cx="512445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6B9E73D-FBD5-4DF9-8C13-9FC025EF6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800600"/>
            <a:ext cx="47434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13" b="0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313" b="0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docs/</a:t>
            </a:r>
          </a:p>
          <a:p xmlns:a="http://schemas.openxmlformats.org/drawingml/2006/main">
            <a:pPr algn="l">
              <a:buNone/>
              <a:defRPr sz="1313" b="0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313" b="0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  RESEARCH_DIRECTION_20260816.md</a:t>
            </a:r>
          </a:p>
          <a:p xmlns:a="http://schemas.openxmlformats.org/drawingml/2006/main">
            <a:pPr algn="l">
              <a:buNone/>
              <a:defRPr sz="1313" b="0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313" b="0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  INTENDED_BEHAVIOUR_CONTRACT_V2_20260816.md</a:t>
            </a:r>
          </a:p>
          <a:p xmlns:a="http://schemas.openxmlformats.org/drawingml/2006/main">
            <a:pPr algn="l">
              <a:buNone/>
              <a:defRPr sz="1313" b="0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313" b="0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reports/</a:t>
            </a:r>
          </a:p>
          <a:p xmlns:a="http://schemas.openxmlformats.org/drawingml/2006/main">
            <a:pPr algn="l">
              <a:buNone/>
              <a:defRPr sz="1313" b="0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313" b="0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  CURRENT_DEVELOPMENT_SYNTHESIS_20260816.md</a:t>
            </a:r>
          </a:p>
          <a:p xmlns:a="http://schemas.openxmlformats.org/drawingml/2006/main">
            <a:pPr algn="l">
              <a:buNone/>
              <a:defRPr sz="1313" b="0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313" b="0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results/development_20260816/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1DB60D8-CF02-4CF6-8A26-D8A442671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172200"/>
            <a:ext cx="10934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545B66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545B66"/>
                </a:solidFill>
                <a:latin typeface="Arial"/>
                <a:ea typeface="Arial"/>
                <a:cs typeface="Arial"/>
              </a:rPr>
              <a:t>该项目快照仅属开发证据，并非基于留出数据的确认性证据。</a:t>
            </a:r>
          </a:p>
        </p:txBody>
      </p:sp>
    </p:spTree>
    <p:extLst>
      <p:ext uri="{BB962C8B-B14F-4D97-AF65-F5344CB8AC3E}">
        <p14:creationId xmlns:p14="http://schemas.microsoft.com/office/powerpoint/2010/main" val="42393367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2026-08-16T23:34:48.1980000Z</dcterms:created>
  <dcterms:modified xsi:type="dcterms:W3CDTF">2026-08-16T23:34:48.1980000Z</dcterms:modified>
</coreProperties>
</file>