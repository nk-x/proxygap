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7707c7a504bf2" /><Relationship Type="http://schemas.openxmlformats.org/officeDocument/2006/relationships/extended-properties" Target="/docProps/app.xml" Id="R13fc849b9a774f15" /><Relationship Type="http://schemas.openxmlformats.org/officeDocument/2006/relationships/officeDocument" Target="/ppt/presentation.xml" Id="R96ebb4f13bd6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848fd8aa84ae0"/>
  </p:sldMasterIdLst>
  <p:notesMasterIdLst>
    <p:notesMasterId xmlns:r="http://schemas.openxmlformats.org/officeDocument/2006/relationships" r:id="Rdda29ab759d84a3e"/>
  </p:notesMasterIdLst>
  <p:sldIdLst>
    <p:sldId xmlns:r="http://schemas.openxmlformats.org/officeDocument/2006/relationships" id="256" r:id="R7a8940a7ed3b40c8"/>
    <p:sldId xmlns:r="http://schemas.openxmlformats.org/officeDocument/2006/relationships" id="257" r:id="Rc9de860b547346f5"/>
    <p:sldId xmlns:r="http://schemas.openxmlformats.org/officeDocument/2006/relationships" id="258" r:id="R99bcecd6c6dc49a4"/>
    <p:sldId xmlns:r="http://schemas.openxmlformats.org/officeDocument/2006/relationships" id="259" r:id="R1642a3c591c5419c"/>
    <p:sldId xmlns:r="http://schemas.openxmlformats.org/officeDocument/2006/relationships" id="260" r:id="R87554e52c82a40f6"/>
    <p:sldId xmlns:r="http://schemas.openxmlformats.org/officeDocument/2006/relationships" id="261" r:id="Red1bb7e02aa64b09"/>
    <p:sldId xmlns:r="http://schemas.openxmlformats.org/officeDocument/2006/relationships" id="262" r:id="Rf6234f1b48f8450e"/>
    <p:sldId xmlns:r="http://schemas.openxmlformats.org/officeDocument/2006/relationships" id="263" r:id="Ra6b8f71f53374783"/>
    <p:sldId xmlns:r="http://schemas.openxmlformats.org/officeDocument/2006/relationships" id="264" r:id="R4015729f33f149bd"/>
    <p:sldId xmlns:r="http://schemas.openxmlformats.org/officeDocument/2006/relationships" id="265" r:id="R8f7d319a27d64485"/>
    <p:sldId xmlns:r="http://schemas.openxmlformats.org/officeDocument/2006/relationships" id="266" r:id="R2db3458eae7a4950"/>
    <p:sldId xmlns:r="http://schemas.openxmlformats.org/officeDocument/2006/relationships" id="267" r:id="Rb43a44a8e6524d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baa7eb2604ba3" /><Relationship Type="http://schemas.openxmlformats.org/officeDocument/2006/relationships/slideMaster" Target="/ppt/slideMasters/slideMaster1.xml" Id="R61f848fd8aa84ae0" /><Relationship Type="http://schemas.openxmlformats.org/officeDocument/2006/relationships/notesMaster" Target="/ppt/notesMasters/notesMaster1.xml" Id="Rdda29ab759d84a3e" /><Relationship Type="http://schemas.openxmlformats.org/officeDocument/2006/relationships/presProps" Target="/ppt/presProps.xml" Id="Rde2e7268c15a4149" /><Relationship Type="http://schemas.openxmlformats.org/officeDocument/2006/relationships/tableStyles" Target="/ppt/tableStyles.xml" Id="Recf4b2b9385e471d" /><Relationship Type="http://schemas.openxmlformats.org/officeDocument/2006/relationships/slide" Target="/ppt/slides/slide1.xml" Id="R7a8940a7ed3b40c8" /><Relationship Type="http://schemas.openxmlformats.org/officeDocument/2006/relationships/slide" Target="/ppt/slides/slide2.xml" Id="Rc9de860b547346f5" /><Relationship Type="http://schemas.openxmlformats.org/officeDocument/2006/relationships/slide" Target="/ppt/slides/slide3.xml" Id="R99bcecd6c6dc49a4" /><Relationship Type="http://schemas.openxmlformats.org/officeDocument/2006/relationships/slide" Target="/ppt/slides/slide4.xml" Id="R1642a3c591c5419c" /><Relationship Type="http://schemas.openxmlformats.org/officeDocument/2006/relationships/slide" Target="/ppt/slides/slide5.xml" Id="R87554e52c82a40f6" /><Relationship Type="http://schemas.openxmlformats.org/officeDocument/2006/relationships/slide" Target="/ppt/slides/slide6.xml" Id="Red1bb7e02aa64b09" /><Relationship Type="http://schemas.openxmlformats.org/officeDocument/2006/relationships/slide" Target="/ppt/slides/slide7.xml" Id="Rf6234f1b48f8450e" /><Relationship Type="http://schemas.openxmlformats.org/officeDocument/2006/relationships/slide" Target="/ppt/slides/slide8.xml" Id="Ra6b8f71f53374783" /><Relationship Type="http://schemas.openxmlformats.org/officeDocument/2006/relationships/slide" Target="/ppt/slides/slide9.xml" Id="R4015729f33f149bd" /><Relationship Type="http://schemas.openxmlformats.org/officeDocument/2006/relationships/slide" Target="/ppt/slides/slide10.xml" Id="R8f7d319a27d64485" /><Relationship Type="http://schemas.openxmlformats.org/officeDocument/2006/relationships/slide" Target="/ppt/slides/slide11.xml" Id="R2db3458eae7a4950" /><Relationship Type="http://schemas.openxmlformats.org/officeDocument/2006/relationships/slide" Target="/ppt/slides/slide12.xml" Id="Rb43a44a8e652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04b60a43e9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97501c7724011" /><Relationship Type="http://schemas.openxmlformats.org/officeDocument/2006/relationships/notesMaster" Target="/ppt/notesMasters/notesMaster1.xml" Id="R7e7cf4f9328f4a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65dce08e4f45a5" /><Relationship Type="http://schemas.openxmlformats.org/officeDocument/2006/relationships/notesMaster" Target="/ppt/notesMasters/notesMaster1.xml" Id="R1668790756b1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56effd27c64821" /><Relationship Type="http://schemas.openxmlformats.org/officeDocument/2006/relationships/notesMaster" Target="/ppt/notesMasters/notesMaster1.xml" Id="Rb39a34b5aefd4b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cd91adceaf4e47" /><Relationship Type="http://schemas.openxmlformats.org/officeDocument/2006/relationships/notesMaster" Target="/ppt/notesMasters/notesMaster1.xml" Id="Rd6cdf7e58d2b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4e8fb71b6499d" /><Relationship Type="http://schemas.openxmlformats.org/officeDocument/2006/relationships/notesMaster" Target="/ppt/notesMasters/notesMaster1.xml" Id="R5e0b778ca03f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46fa105484f8d" /><Relationship Type="http://schemas.openxmlformats.org/officeDocument/2006/relationships/notesMaster" Target="/ppt/notesMasters/notesMaster1.xml" Id="R7d9aee6f918c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d4ae51d8c48ae" /><Relationship Type="http://schemas.openxmlformats.org/officeDocument/2006/relationships/notesMaster" Target="/ppt/notesMasters/notesMaster1.xml" Id="R2ca84a1dc6b346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50a5e861a4160" /><Relationship Type="http://schemas.openxmlformats.org/officeDocument/2006/relationships/notesMaster" Target="/ppt/notesMasters/notesMaster1.xml" Id="Rf39cfc1e428e4f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ea2d31ad9148dd" /><Relationship Type="http://schemas.openxmlformats.org/officeDocument/2006/relationships/notesMaster" Target="/ppt/notesMasters/notesMaster1.xml" Id="R45546399de524d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8dcf62d1f40c3" /><Relationship Type="http://schemas.openxmlformats.org/officeDocument/2006/relationships/notesMaster" Target="/ppt/notesMasters/notesMaster1.xml" Id="R7bd325bb30fc45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253d5a0e1e4317" /><Relationship Type="http://schemas.openxmlformats.org/officeDocument/2006/relationships/notesMaster" Target="/ppt/notesMasters/notesMaster1.xml" Id="R469f319e4b654c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ff2bfa959b4f07" /><Relationship Type="http://schemas.openxmlformats.org/officeDocument/2006/relationships/notesMaster" Target="/ppt/notesMasters/notesMaster1.xml" Id="R9b08a8a02c16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cover frame is qualitative context only. It was selected deterministically as the fixed 25.05 s midpoint of the first entry in the public video index, rather than by visual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visual: Ftrack__Ar0__tr41401__ev51401__t1000000.png; step 501/1000; 25.05 s; training seed 41401; evaluation seed 51401; 1,000,000 training steps; PNG SHA-256 F937FD06C91BB9E4D4259753371CAD5728A841CF43EFA2065E8342C1D2CDF099.</a:t>
            </a:r>
          </a:p>
          <a:p xmlns:a="http://schemas.openxmlformats.org/drawingml/2006/main">
            <a:r>
              <a:t>- Public provenance: results/development_20260816/target_and_action_rate_1m/8_16_trials_3__VIDEO_INDEX.json; source MP4 SHA-256 89CF97B2F513196573F3B9E84D35874190FE5F92A8119BBC4343BC0D2FFB60B0.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direction changes from coefficient comparison to construct audit, followed by bounded mitigation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docs/RESEARCH_DIRECTION_20260816.md.</a:t>
            </a:r>
          </a:p>
          <a:p xmlns:a="http://schemas.openxmlformats.org/drawingml/2006/main">
            <a:r>
              <a:t>- Project source: reports/CURRENT_DEVELOPMENT_SYNTHESIS_20260816.md.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separates the task, the optimiser-facing scalar proxy and researcher-facing external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 (n.d.), Ant documentation: https://gymnasium.farama.org/environments/mujoco/ant/ (accessed 16 August 2026).</a:t>
            </a:r>
          </a:p>
          <a:p xmlns:a="http://schemas.openxmlformats.org/drawingml/2006/main">
            <a:r>
              <a:t>- Skalse et al. (2022): https://proceedings.neurips.cc/paper_files/paper/2022/file/3d719fee332caa23d5038b8a90e81796-Paper-Conference.pdf.</a:t>
            </a:r>
          </a:p>
          <a:p xmlns:a="http://schemas.openxmlformats.org/drawingml/2006/main">
            <a:r>
              <a:t>- Project source: docs/INTENDED_BEHAVIOUR_CONTRACT_V2_20260816.md.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intended behaviour is operationalised through a project-specific vector. Equal evaluation seeds pair initial conditions but do not add independent training replications.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configs/hybrid_intent_constraint_design_v1_20260816.json.</a:t>
            </a:r>
          </a:p>
          <a:p xmlns:a="http://schemas.openxmlformats.org/drawingml/2006/main">
            <a:r>
              <a:t>- Project source: docs/INTENDED_BEHAVIOUR_CONTRACT_V2_20260816.md.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default reward has a narrower construct than the project-specific intended-behaviour contract. Mitigation testing follows replicated divergence, rather than replacing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 (n.d.), Ant documentation: https://gymnasium.farama.org/environments/mujoco/ant/ (accessed 16 August 2026).</a:t>
            </a:r>
          </a:p>
          <a:p xmlns:a="http://schemas.openxmlformats.org/drawingml/2006/main">
            <a:r>
              <a:t>- Pan, Bhatia and Steinhardt (2022): https://arxiv.org/abs/2201.03544.</a:t>
            </a:r>
          </a:p>
          <a:p xmlns:a="http://schemas.openxmlformats.org/drawingml/2006/main">
            <a:r>
              <a:t>- Project source: results/development_20260816/hybrid_guardrail/analysis__jump_contact_gait__jump_contact_gait_summary.json.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development round changed a limited declared factor set and retained negative results. The slide uses neutral verbs because these are exploratory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docs/TEAM_PROGRESS_UPDATE_20260816.md.</a:t>
            </a:r>
          </a:p>
          <a:p xmlns:a="http://schemas.openxmlformats.org/drawingml/2006/main">
            <a:r>
              <a:t>- Project source: reports/CURRENT_DEVELOPMENT_SYNTHESIS_20260816.md.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replay matches the logged episode within floating-point tolerance. The take-off definition is root vertical velocity at least 1.25 m/s.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results/development_20260816/hybrid_guardrail/analysis__jump_contact_gait__jump_contact_gait_summary.json.</a:t>
            </a:r>
          </a:p>
          <a:p xmlns:a="http://schemas.openxmlformats.org/drawingml/2006/main">
            <a:r>
              <a:t>- Project source: results/development_20260816/hybrid_guardrail/8_16_trials_1__VIDEO_INDEX.json.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conditions used target-speed tracking; the comparison factor is the action-rate shaping weight. Some diagnostics improved while others deteriorated, and repeated flight remained.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results/development_20260816/target_and_action_rate_1m/analysis__target_budget_extension_summary.json.</a:t>
            </a:r>
          </a:p>
          <a:p xmlns:a="http://schemas.openxmlformats.org/drawingml/2006/main">
            <a:r>
              <a:t>- Project visual: results/development_20260816/target_and_action_rate_1m/analysis__target_budget_extension_summary.png; SHA-256 A111D66D81245866641052D743133EC734AC2B874EA582491200231F25FA8F9F.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Body-dynamics shaping reduced several hopping diagnostics under ordinary Gaussian exploration, but it did not satisfy the complete intent contract. The gSDE conclusion is restricted to the tested frequency-8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Raffin, Kober and Stulp (2022): https://proceedings.mlr.press/v164/raffin22a.html.</a:t>
            </a:r>
          </a:p>
          <a:p xmlns:a="http://schemas.openxmlformats.org/drawingml/2006/main">
            <a:r>
              <a:t>- Project source: configs/body_smoothness_gsde_matrix_v1_20260816.json.</a:t>
            </a:r>
          </a:p>
          <a:p xmlns:a="http://schemas.openxmlformats.org/drawingml/2006/main">
            <a:r>
              <a:t>- Project source: results/development_20260816/body_dynamics_gsde_1m/analysis__body_smoothness_gsde_summary.json.</a:t>
            </a:r>
          </a:p>
          <a:p xmlns:a="http://schemas.openxmlformats.org/drawingml/2006/main">
            <a:r>
              <a:t>- Project visual: results/development_20260816/body_dynamics_gsde_1m/analysis__body_smoothness_gsde_endpoint_summary.png; SHA-256 89A14D4FDE89A2435CC2350934886FA4F544F1161882665A0B27566B7ADE6F40.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open problem is construct definition. The second is attribution between a learned policy proposal and a downstream projection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Aractingi et al. (2023): https://doi.org/10.1038/s41598-023-38259-7.</a:t>
            </a:r>
          </a:p>
          <a:p xmlns:a="http://schemas.openxmlformats.org/drawingml/2006/main">
            <a:r>
              <a:t>- Project source: configs/hybrid_guardrail_observability_correction_v1_20260816.json.</a:t>
            </a:r>
          </a:p>
          <a:p xmlns:a="http://schemas.openxmlformats.org/drawingml/2006/main">
            <a:r>
              <a:t>- Project source: docs/TEAM_PROGRESS_UPDATE_20260816.md.</a:t>
            </a:r>
          </a:p>
          <a:p xmlns:a="http://schemas.openxmlformats.org/drawingml/2006/main">
            <a:r>
              <a:t>- Project source: reports/CURRENT_DEVELOPMENT_SYNTHESIS_20260816.md.</a:t>
            </a:r>
          </a:p>
          <a:p xmlns:a="http://schemas.openxmlformats.org/drawingml/2006/main">
            <a:r>
              <a:t>- Machine-readable local evidence retained in authoring archive: endpoint_condition_summary.csv; SHA-256 11D74296C055506AF7D497952B7B6535C099B8554A9587186B381FF06E8554BC.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verified execution state records that the candidate constraint wrapper is not implemented, engineering tests have not passed and held-out training is not authorised. The current formal design is a reward-by-constraint 2 × 2 ablation after candidate selection and freeze.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docs/RESEARCH_DIRECTION_20260816.md.</a:t>
            </a:r>
          </a:p>
          <a:p xmlns:a="http://schemas.openxmlformats.org/drawingml/2006/main">
            <a:r>
              <a:t>- Project source: configs/hybrid_intent_constraint_design_v1_20260816.json.</a:t>
            </a:r>
          </a:p>
          <a:p xmlns:a="http://schemas.openxmlformats.org/drawingml/2006/main">
            <a:r>
              <a:t>- Project source: docs/PUBLIC_RELEASE_CONTENTS_20260816.md.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source URLs and project paths used across the deck are collected here and in the slide-level [Sources] 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Farama Foundation (n.d.): https://gymnasium.farama.org/environments/mujoco/ant/ (accessed 16 August 2026).</a:t>
            </a:r>
          </a:p>
          <a:p xmlns:a="http://schemas.openxmlformats.org/drawingml/2006/main">
            <a:r>
              <a:t>- Skalse et al. (2022): https://proceedings.neurips.cc/paper_files/paper/2022/file/3d719fee332caa23d5038b8a90e81796-Paper-Conference.pdf.</a:t>
            </a:r>
          </a:p>
          <a:p xmlns:a="http://schemas.openxmlformats.org/drawingml/2006/main">
            <a:r>
              <a:t>- Pan, Bhatia and Steinhardt (2022): https://arxiv.org/abs/2201.03544.</a:t>
            </a:r>
          </a:p>
          <a:p xmlns:a="http://schemas.openxmlformats.org/drawingml/2006/main">
            <a:r>
              <a:t>- Raffin, Kober and Stulp (2022): https://proceedings.mlr.press/v164/raffin22a.html.</a:t>
            </a:r>
          </a:p>
          <a:p xmlns:a="http://schemas.openxmlformats.org/drawingml/2006/main">
            <a:r>
              <a:t>- Aractingi et al. (2023): https://doi.org/10.1038/s41598-023-38259-7.</a:t>
            </a:r>
          </a:p>
          <a:p xmlns:a="http://schemas.openxmlformats.org/drawingml/2006/main">
            <a:r>
              <a:t>- Project snapshot: docs/RESEARCH_DIRECTION_20260816.md; docs/INTENDED_BEHAVIOUR_CONTRACT_V2_20260816.md; reports/CURRENT_DEVELOPMENT_SYNTHESIS_20260816.md; results/development_20260816/.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319f1b9e9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bef399aef412e" /><Relationship Type="http://schemas.openxmlformats.org/officeDocument/2006/relationships/slideLayout" Target="/ppt/slideLayouts/slideLayout1.xml" Id="R5b03689ecb5343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3689ecb5343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2c1fb98f8465a" /><Relationship Type="http://schemas.openxmlformats.org/officeDocument/2006/relationships/image" Target="/ppt/media/image.png" Id="R0b8c0bb2f384471a" /><Relationship Type="http://schemas.openxmlformats.org/officeDocument/2006/relationships/notesSlide" Target="/ppt/notesSlides/notesSlide1.xml" Id="R356dc2cf5db2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390a866c4a28" /><Relationship Type="http://schemas.openxmlformats.org/officeDocument/2006/relationships/notesSlide" Target="/ppt/notesSlides/notesSlide2.xml" Id="Rfe0eeaf359f84b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02a63d0b4ede" /><Relationship Type="http://schemas.openxmlformats.org/officeDocument/2006/relationships/notesSlide" Target="/ppt/notesSlides/notesSlide3.xml" Id="R5934849fc5a2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8d84961a14b06" /><Relationship Type="http://schemas.openxmlformats.org/officeDocument/2006/relationships/notesSlide" Target="/ppt/notesSlides/notesSlide4.xml" Id="R94673686847f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0a8cb06c4b32" /><Relationship Type="http://schemas.openxmlformats.org/officeDocument/2006/relationships/notesSlide" Target="/ppt/notesSlides/notesSlide5.xml" Id="Rbf1de562475e49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4d34d0d64ae1" /><Relationship Type="http://schemas.openxmlformats.org/officeDocument/2006/relationships/notesSlide" Target="/ppt/notesSlides/notesSlide6.xml" Id="R4862a0643c8940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4a312c9024dd6" /><Relationship Type="http://schemas.openxmlformats.org/officeDocument/2006/relationships/notesSlide" Target="/ppt/notesSlides/notesSlide7.xml" Id="R200b0286197f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df67ee8b540c5" /><Relationship Type="http://schemas.openxmlformats.org/officeDocument/2006/relationships/image" Target="/ppt/media/image2.png" Id="R04ad078562c34073" /><Relationship Type="http://schemas.openxmlformats.org/officeDocument/2006/relationships/notesSlide" Target="/ppt/notesSlides/notesSlide8.xml" Id="Rad05adf901034c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4f1bbdb1548c6" /><Relationship Type="http://schemas.openxmlformats.org/officeDocument/2006/relationships/image" Target="/ppt/media/image3.png" Id="Rd14bec14a0024f50" /><Relationship Type="http://schemas.openxmlformats.org/officeDocument/2006/relationships/notesSlide" Target="/ppt/notesSlides/notesSlide9.xml" Id="R611a69fc565b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32521274045b7" /><Relationship Type="http://schemas.openxmlformats.org/officeDocument/2006/relationships/notesSlide" Target="/ppt/notesSlides/notesSlide10.xml" Id="Raec24ccc6c8b47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624b283945bc" /><Relationship Type="http://schemas.openxmlformats.org/officeDocument/2006/relationships/notesSlide" Target="/ppt/notesSlides/notesSlide11.xml" Id="R4d111102a66547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3684bf564a3c" /><Relationship Type="http://schemas.openxmlformats.org/officeDocument/2006/relationships/notesSlide" Target="/ppt/notesSlides/notesSlide12.xml" Id="R3fa338b296564d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c0bb2f384471a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0FFDC-720B-487D-93BE-EC3F49D3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5099-283B-484E-A04E-4FF537B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39A72-ABF7-4CA4-B068-E6CC72A4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26BC93-52CB-4422-AD5E-8E1DBC9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557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ProxyGap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C4105A-9BA3-4BF4-8BEA-BC6744B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33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Auditing reward misspecification and developing a bounded mitigation in Ant-v5 locomotion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2A131-7077-412B-BCF3-3E3165B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Team progress update  |  16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E4815-B2FC-4D88-ACBD-0ED86D5C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626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Project-generated frame · fixed midpoint · complete 50 s episode</a:t>
            </a:r>
          </a:p>
        </p:txBody>
      </p:sp>
    </p:spTree>
    <p:extLst>
      <p:ext uri="{BB962C8B-B14F-4D97-AF65-F5344CB8AC3E}">
        <p14:creationId xmlns:p14="http://schemas.microsoft.com/office/powerpoint/2010/main" val="1307467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BD40C6B-4A5F-4E56-988B-38A8B2B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study now audits the default reward first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43EB39E-F225-4139-A733-F87ED6E6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direction-rationale">
            <a:extLst xmlns:a="http://schemas.openxmlformats.org/drawingml/2006/main">
              <a:ext uri="{FF2B5EF4-FFF2-40B4-BE49-F238E27FC236}">
                <a16:creationId xmlns:a16="http://schemas.microsoft.com/office/drawing/2014/main" id="{F4D19988-EFD1-452C-8930-6F616EC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 coefficient sweep compares alternative scalar proxies without first establishing whether the default proxy represents the intended-behaviour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E217D-7260-43BA-A427-86ADBA65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05CE9-C79A-4568-85BB-C77EB45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Earlier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BA16A-1035-40CD-BE1D-611DDF4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BB62111C-A6DC-4AE1-9552-C5952FF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Vary ctrl_cost_weight.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64F23-10ED-4AA4-885E-A806F79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38FC9E9-2E82-411B-A6AE-B1158A6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Compare proxy return and diagnostics.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CF694-6F45-4FA7-BBC7-C93A7B21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5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6E69C1A6-780A-4148-BFE6-567DE88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377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Risk: one incomplete scalar proxy versus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A6B3-36D5-433F-855C-6BE0B5A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781050" cy="742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0CB47-B0A3-486F-9885-380D917D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933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89B4B-6AAD-4F3F-9FF3-097CD03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Current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0B108-6A12-45E2-8F10-2030FA20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678E5F62-E910-47AA-BE2C-C8986EA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 the default reward against a declared contract.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FBBF6-2F08-4ECE-ACB3-1537088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AB2FB3DF-0045-46CF-BCBB-D8E1A88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0045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Seek a reproducible proxy–diagnostic disagreement.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4734C-E7DA-4643-9E00-C60C059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9523FC18-1F0C-4430-9213-84A9927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Test one bounded mitigation only after protocol freeze.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C3480-105E-4CED-B470-2DF08BE3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42A89-E9B9-4216-B454-CA7DE26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Historical weight sweep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E2E47-6A07-4D2B-A8ED-1D497F1A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Retained as retrospective exploratory evidence—not discarded and not the central experiment.</a:t>
            </a:r>
          </a:p>
        </p:txBody>
      </p:sp>
      <p:sp>
        <p:nvSpPr>
          <p:cNvPr id="25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BD82F8FC-19EB-4DA4-A704-CE67E42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Project evidence: RESEARCH_DIRECTION_20260816; CURRENT_DEVELOPMENT_SYNTHESIS_20260816.</a:t>
            </a:r>
          </a:p>
        </p:txBody>
      </p:sp>
    </p:spTree>
    <p:extLst>
      <p:ext uri="{BB962C8B-B14F-4D97-AF65-F5344CB8AC3E}">
        <p14:creationId xmlns:p14="http://schemas.microsoft.com/office/powerpoint/2010/main" val="525232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CBFFFE3-45CB-4F98-B89B-2F875D3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One scalar proxy can miss a behavioural vector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4CD8E66-423D-4E5A-BE6C-8213D6D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3924300" y="13811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7448550" y="13811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85BB-7354-4C39-BFEE-A053DE7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EA5A0-E023-4918-9467-36BC0CE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Platform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03A7-030C-4E0A-870B-46B8FE2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Ant-v5 coordinates four legs to move in +x for up to 1,000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82B97-343D-4495-A6F6-A35FD77E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754B-BE3E-47D9-A0D8-E1C5D8F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Training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19F0-0CDC-437C-BF1E-FFF2151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PPO maximises expected return: forward reward + healthy reward − control cost − clipped contact cost.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5A22D-4FB8-46D5-836C-110E5F2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097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26010-ED78-470B-8B1A-E0625B9B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Diagnostic 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D6580-BC23-408B-A915-EE4A0BF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314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A project-defined contract audits speed, posture, termination, direction, path, action quality and body dynamics. It is not a true reward.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2B5F9-C2B3-42C2-8CDA-6684B55E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DF4C3-01A4-4664-A0BB-CE3B40D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E197A-BB7F-470C-A28F-FFEA6A2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625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higher default return coexist with failure of a predeclared minimum requirement or a practically important deterioration in the diagnostic vector?</a:t>
            </a:r>
          </a:p>
        </p:txBody>
      </p:sp>
      <p:sp>
        <p:nvSpPr>
          <p:cNvPr id="18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E11E01A9-1244-4E16-8BE2-8B5AC3D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Sources: Farama Foundation (n.d.); Skalse et al. (2022); project diagnostic contract.</a:t>
            </a:r>
          </a:p>
        </p:txBody>
      </p:sp>
    </p:spTree>
    <p:extLst>
      <p:ext uri="{BB962C8B-B14F-4D97-AF65-F5344CB8AC3E}">
        <p14:creationId xmlns:p14="http://schemas.microsoft.com/office/powerpoint/2010/main" val="1761511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F053354-D128-4529-B71F-BF23453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Intended behaviour is a diagnostic vector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F8C94BFD-B3D9-477D-9E62-BB40218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B62D-D37A-490C-9707-8251272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Project-defined evaluation contract—not an invented “true reward” and not an Ant-v5 default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A1481-6867-43D8-89C1-35CC360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57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0BAA4-7B37-4868-8FDF-BA1BC0B6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 m/s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E5B4-430A-4C1E-87FC-A3F3A3B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forward command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028700" y="3638550"/>
            <a:ext cx="2038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07087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41668-C2E9-41D9-8B6A-9807754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1,000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3CFD6-94B2-46D6-B06C-5190422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D7E8F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7E8F6"/>
                </a:solidFill>
                <a:latin typeface="Arial"/>
                <a:ea typeface="Arial"/>
                <a:cs typeface="Arial"/>
              </a:rPr>
              <a:t>50 s fixed horizon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2E2F3-0C79-4CE8-845D-1E09F01F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E9D9C-2007-4A00-A72C-B50A52F1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Minimum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9645-93FA-4486-BBF7-01ED29E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Full horizon; no unhealthy termination; no sustained inversion.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921FB-FF35-4820-9988-EAD582E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76E51-D296-4713-810B-9BEB6ED2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Quality diagnostics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61EEC-6813-4B50-8DFF-26C56EF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Torso tilt; direction error; path efficiency; action roughness; saturation; take-offs and floor contact.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2F894-D432-47CC-8972-B9A6FA1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529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66ACF-7EF3-4730-A356-3900FAEA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Fair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F567-D952-4595-86A7-12454AA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Identical evaluation seeds pair initial-state disturbances across policies; training runs remain the independent replication unit.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782DB-65C3-4BE7-A767-0AD144C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86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STATUS  Development-frozen; not yet formally frozen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6D4DF-3F19-4026-A474-B9F18B0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578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Thresholds are flat-ground project criteria—not universal robot-safety standards.</a:t>
            </a:r>
          </a:p>
        </p:txBody>
      </p:sp>
      <p:sp>
        <p:nvSpPr>
          <p:cNvPr id="22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544053ED-F843-4840-97D0-EA65BC8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Project evidence: hybrid_intent_constraint_design_v1; INTENDED_BEHAVIOUR_CONTRACT_V2.</a:t>
            </a:r>
          </a:p>
        </p:txBody>
      </p:sp>
    </p:spTree>
    <p:extLst>
      <p:ext uri="{BB962C8B-B14F-4D97-AF65-F5344CB8AC3E}">
        <p14:creationId xmlns:p14="http://schemas.microsoft.com/office/powerpoint/2010/main" val="1711495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9519D2A-E961-4EFE-9DE0-601DC87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default reward omits key dimensions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BFF34B91-09DF-45E3-A09F-98E34ECF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CA854-FB66-4548-9F16-81F6B4AF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The project-defined contract is broader than the scalar supplied to PPO.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F7E0-2CE2-4E23-83EB-3B59D82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DA6EB-8D19-41C4-B3A1-0D6B654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Directly represented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C9B40-CB19-417D-8B45-937C6FA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1890A0D-0AD1-4598-AABD-D6F942C2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Forward velocity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25292-3AB2-48B6-878D-3457F77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BD3A502C-2692-4D5E-AB30-1A50F79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Broad health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8A262-CD43-463A-BD03-C704E02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84ED42F-C0C3-4827-8792-192D3C7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Action magnitude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7DFF4-BC07-419F-A83D-D6F2517F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544D5C3B-CC91-4E81-9B5A-4AA4CEFA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Clipped contact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219A3-A13A-4D26-AC82-8BAFFBBE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7D0CB-5333-4902-A373-C14E09A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Not directly 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BE73A-2B5A-49F4-BD79-2432C3B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1">
            <a:extLst xmlns:a="http://schemas.openxmlformats.org/drawingml/2006/main">
              <a:ext uri="{FF2B5EF4-FFF2-40B4-BE49-F238E27FC236}">
                <a16:creationId xmlns:a16="http://schemas.microsoft.com/office/drawing/2014/main" id="{AD308234-3356-4D98-B985-3362D26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Target-speed 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863A8-B5EC-4C93-BDAA-3DE6270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">
            <a:extLst xmlns:a="http://schemas.openxmlformats.org/drawingml/2006/main">
              <a:ext uri="{FF2B5EF4-FFF2-40B4-BE49-F238E27FC236}">
                <a16:creationId xmlns:a16="http://schemas.microsoft.com/office/drawing/2014/main" id="{64BF5DFD-AC76-4843-901C-36E32C3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Upright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2AAF0-0693-42F3-9FD6-50F3B70E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C25C75F6-5BDB-481F-9503-0091E258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Straight and efficient travel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F3BE8-0B27-443B-8B0F-33707A8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4">
            <a:extLst xmlns:a="http://schemas.openxmlformats.org/drawingml/2006/main">
              <a:ext uri="{FF2B5EF4-FFF2-40B4-BE49-F238E27FC236}">
                <a16:creationId xmlns:a16="http://schemas.microsoft.com/office/drawing/2014/main" id="{CE8278EB-36CF-479D-BB86-12A3D61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95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Smooth actions or a gait pattern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3BD59-62ED-42CA-BC59-90BB6ED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E3045-366F-4A2F-A853-3B26E7D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Contact clipping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CA545-00C2-4EB0-B63E-88E4889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4450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Contact-force components are clipped before squaring; increases beyond the clipping bound do not further increase that component of the penalty.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F060D-5674-41B7-96FA-0F5387DC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Replicate an ordering disagreement  →  test a mechanism-specific candidate</a:t>
            </a:r>
          </a:p>
        </p:txBody>
      </p:sp>
      <p:sp>
        <p:nvSpPr>
          <p:cNvPr id="29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25DCE636-2151-4E97-8A3F-BA3D430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Sources: Farama Foundation (n.d.); Pan, Bhatia and Steinhardt (2022); project contact diagnostic.</a:t>
            </a:r>
          </a:p>
        </p:txBody>
      </p:sp>
    </p:spTree>
    <p:extLst>
      <p:ext uri="{BB962C8B-B14F-4D97-AF65-F5344CB8AC3E}">
        <p14:creationId xmlns:p14="http://schemas.microsoft.com/office/powerpoint/2010/main" val="1078543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1F69E18-8F29-4FE4-8EF5-4F9616A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Six rounds narrowed the development question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B67AA5D-0F0A-4AD4-AF4C-088DEB6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85227-BF9F-487F-8FF1-E0049AF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B4BC5-2E52-47E1-95D3-F5BE8F9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6682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EXPLORATORY DEVELOPMENT PATHWAY — NOT CONFIRMATORY EVIDENCE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676400" y="2143125"/>
            <a:ext cx="8839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DA5F3-0ECA-4C3E-BF8A-74C64146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E78F6-017E-48B6-AE49-ACDD105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76974-209F-41F1-9B52-3F835FD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9CD68-BB0C-4624-AFA8-71338DB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Screened inversion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BAE47-76A1-4337-8355-1F98F89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D1A8F-3CB2-45D0-A557-0E03887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2B50D-67DA-4243-A5A5-A43329D3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Slew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1FB5E-D0E3-4BD7-86AD-C5289850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Tested applied versus proposed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4AA2D-890D-4C3E-8C70-FB8476B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71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E5383-E4D6-41C6-868F-43B34860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097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BE24A-D8F4-4677-8809-F1EDA63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Observable lateral term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4DA94-D6E1-445A-B3F2-9F7584F8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38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Replaced hidden absolute y with lateral velocity.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676400" y="4295775"/>
            <a:ext cx="8839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0DE52-A99C-464E-BA1D-629FD7D1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A657A-6FF2-426D-8B7C-3C073390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BC315-F4AD-4F2F-9AF5-BEDCA28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Target + action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3760F-7310-467B-9A7E-8B31120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Tested target tracking and proposal smoothness.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5E7DA-905B-4C03-A1D3-316AB94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5A88D-6C3F-4B59-835A-4080D8AD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4BBCE-68DC-4B07-8497-4B8516F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Contact diagnosis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D8CCE-44EA-4C0E-AEEE-42B51B5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Documented residual take-off and flight.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65E31-5351-4499-8D44-280FD4D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24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CED94-FAC6-462C-ACEE-D021FEE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62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2FE8C-BEE4-4702-9EF1-3EC88377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Body shaping + gSDE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262C6-394D-48CE-9140-D92A6750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911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Screened body dynamics and frequency-8 generalised State-Dependent Exploration.</a:t>
            </a:r>
          </a:p>
        </p:txBody>
      </p:sp>
      <p:sp>
        <p:nvSpPr>
          <p:cNvPr id="32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968B9320-DBF9-48D8-BD68-BA00F0B5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Project evidence: TEAM_PROGRESS_UPDATE_20260816; CURRENT_DEVELOPMENT_SYNTHESIS_20260816.</a:t>
            </a:r>
          </a:p>
        </p:txBody>
      </p:sp>
    </p:spTree>
    <p:extLst>
      <p:ext uri="{BB962C8B-B14F-4D97-AF65-F5344CB8AC3E}">
        <p14:creationId xmlns:p14="http://schemas.microsoft.com/office/powerpoint/2010/main" val="353384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AEEB21D-FBBE-432A-B592-EF378B20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One replay documented repeated flight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E71C8538-BE06-49BA-8FD1-AAA8684C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A587-E97D-421D-B64E-6219776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25D5C-36DB-41C9-9530-FF929A94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Rt0p1_Rvy0__K1p1  |  training seed 41301  |  evaluation seed 51301  |  300,000 training steps  |  50 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257675" y="20574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7934325" y="20574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metric-take-offs with root vertical&#10;velocity ≥ 1.25 m/s">
            <a:extLst xmlns:a="http://schemas.openxmlformats.org/drawingml/2006/main">
              <a:ext uri="{FF2B5EF4-FFF2-40B4-BE49-F238E27FC236}">
                <a16:creationId xmlns:a16="http://schemas.microsoft.com/office/drawing/2014/main" id="{4CF1ED75-6F8A-49F2-AB67-1C82D08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metric-label-take-offs with root vertical&#10;velocity ≥ 1.25 m/s">
            <a:extLst xmlns:a="http://schemas.openxmlformats.org/drawingml/2006/main">
              <a:ext uri="{FF2B5EF4-FFF2-40B4-BE49-F238E27FC236}">
                <a16:creationId xmlns:a16="http://schemas.microsoft.com/office/drawing/2014/main" id="{1AD22332-9C03-406D-8C0C-328F1CF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take-offs with root vertical</a:t>
            </a:r>
          </a:p>
          <a:p xmlns:a="http://schemas.openxmlformats.org/drawingml/2006/main">
            <a:pPr algn="ctr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velocity ≥ 1.25 m/s</a:t>
            </a:r>
          </a:p>
        </p:txBody>
      </p:sp>
      <p:sp>
        <p:nvSpPr>
          <p:cNvPr id="10" name="metric-steps without floor contact">
            <a:extLst xmlns:a="http://schemas.openxmlformats.org/drawingml/2006/main">
              <a:ext uri="{FF2B5EF4-FFF2-40B4-BE49-F238E27FC236}">
                <a16:creationId xmlns:a16="http://schemas.microsoft.com/office/drawing/2014/main" id="{1894C3BF-EF87-4738-B87D-FDA26032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52.9%</a:t>
            </a:r>
          </a:p>
        </p:txBody>
      </p:sp>
      <p:sp>
        <p:nvSpPr>
          <p:cNvPr id="11" name="metric-label-steps without floor contact">
            <a:extLst xmlns:a="http://schemas.openxmlformats.org/drawingml/2006/main">
              <a:ext uri="{FF2B5EF4-FFF2-40B4-BE49-F238E27FC236}">
                <a16:creationId xmlns:a16="http://schemas.microsoft.com/office/drawing/2014/main" id="{B820B31A-284D-4451-9549-3E196D01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steps without floor contact</a:t>
            </a:r>
          </a:p>
        </p:txBody>
      </p:sp>
      <p:sp>
        <p:nvSpPr>
          <p:cNvPr id="12" name="metric-maximum root vertical velocity">
            <a:extLst xmlns:a="http://schemas.openxmlformats.org/drawingml/2006/main">
              <a:ext uri="{FF2B5EF4-FFF2-40B4-BE49-F238E27FC236}">
                <a16:creationId xmlns:a16="http://schemas.microsoft.com/office/drawing/2014/main" id="{C17E10DD-E27F-46F0-9C34-FFF2477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2.540 m/s</a:t>
            </a:r>
          </a:p>
        </p:txBody>
      </p:sp>
      <p:sp>
        <p:nvSpPr>
          <p:cNvPr id="13" name="metric-label-maximum root vertical velocity">
            <a:extLst xmlns:a="http://schemas.openxmlformats.org/drawingml/2006/main">
              <a:ext uri="{FF2B5EF4-FFF2-40B4-BE49-F238E27FC236}">
                <a16:creationId xmlns:a16="http://schemas.microsoft.com/office/drawing/2014/main" id="{15A8A5FD-8F39-4E4F-B6A7-94C118EE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maximum root vertical 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4E7F6-B5CB-4A55-80E3-755437D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1013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9303D-086C-4BB0-B430-6D1265A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956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this episode, low action roughness coexisted with repeated flight.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BBB1D-1F2D-4EC3-B714-2576644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Boundary: one deterministic replay identifies a candidate failure mode; it is not a prevalence estimate, mechanism proof or causal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0E1C1-23AC-4C0E-A74F-AC78CF95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Source · jump_contact_gait_summary.json · replay error ≤ 7.2 × 10⁻¹⁵</a:t>
            </a:r>
          </a:p>
        </p:txBody>
      </p:sp>
    </p:spTree>
    <p:extLst>
      <p:ext uri="{BB962C8B-B14F-4D97-AF65-F5344CB8AC3E}">
        <p14:creationId xmlns:p14="http://schemas.microsoft.com/office/powerpoint/2010/main" val="2092785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9507AC0-D5B7-4940-A814-0236E31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Action-rate shaping left major trade-offs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3126AE63-D044-44A0-A66D-9B99177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13B5-0DEB-40FB-A83B-355B7FC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Speed 0.844 → 0.918 m/s   |   roughness 0.0139 → 0.00985   |   path efficiency 0.809 → 0.857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4B939-01E7-4B39-AA6F-B210540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Direction error 6.40° → 10.65°   |   intent compliance 23.3% → 6.7%   |   exploratory hopping flag 100% in both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d078562c34073"/>
          <a:stretch xmlns:a="http://schemas.openxmlformats.org/drawingml/2006/main"/>
        </p:blipFill>
        <p:spPr>
          <a:xfrm xmlns:a="http://schemas.openxmlformats.org/drawingml/2006/main">
            <a:off x="2015320" y="1752600"/>
            <a:ext cx="816136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D76805F1-8DBD-4C29-AE28-1415462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Development means: n=3 independent policies/condition; 10 core episodes/policy; contact diagnostic used one fixed replay seed/policy.</a:t>
            </a:r>
          </a:p>
        </p:txBody>
      </p:sp>
    </p:spTree>
    <p:extLst>
      <p:ext uri="{BB962C8B-B14F-4D97-AF65-F5344CB8AC3E}">
        <p14:creationId xmlns:p14="http://schemas.microsoft.com/office/powerpoint/2010/main" val="2022519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7318DF1-8BAF-42D1-A74C-FAC6803B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Body shaping helped; frequency-8 gSDE failed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226FF4D9-B5C2-4FDB-9ED5-B9B2C82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3943E-B407-4939-8680-CA85808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Gaussian exploration: speed 0.961 → 0.931 m/s  |  no-floor 0.526 → 0.465  |  take-offs 21.1 → 3.77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B52E-2235-426D-B2E2-B08C097A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Path efficiency 0.931 → 0.879  |  intent compliance 0% in both  |  gSDE G8: 100% unhealthy termination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bec14a0024f50"/>
          <a:stretch xmlns:a="http://schemas.openxmlformats.org/drawingml/2006/main"/>
        </p:blipFill>
        <p:spPr>
          <a:xfrm xmlns:a="http://schemas.openxmlformats.org/drawingml/2006/main">
            <a:off x="2106292" y="1752600"/>
            <a:ext cx="7979416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AC3A9828-27F8-4088-B3F3-2F2C1CBF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Partial development candidate only: n=3 independent policies/cell; 10 endpoint episodes/policy; rejects only this gSDE setting.</a:t>
            </a:r>
          </a:p>
        </p:txBody>
      </p:sp>
    </p:spTree>
    <p:extLst>
      <p:ext uri="{BB962C8B-B14F-4D97-AF65-F5344CB8AC3E}">
        <p14:creationId xmlns:p14="http://schemas.microsoft.com/office/powerpoint/2010/main" val="303989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3A3F973-F9DE-4FED-8B3B-6C617CF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Two scientific definitions remain open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C20EB8E1-40F3-43E3-90B2-578E013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06F6-904B-449C-84A1-8EA012D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These definitions determine what the final experiment can legitimately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10164-133F-4ED2-BDEA-05A03AE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AC7ED-900A-4E4C-BD16-4395B32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61F61-9963-4B0E-BB0F-44B5835D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Biological gait has not been operationalised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68AD-4B17-424F-93D6-3010A92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Current metrics describe stability, direction, action quality and contact behaviour—not a frozen crawl, trot, pace or bound classifier.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D5370-90BB-4F4D-B307-EC354B8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BA16-57BA-4D3D-943A-1FD594D0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AD2A6-642D-4F39-BDED-B251366D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Applied-action smoothness is not learned-policy smoothness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D14FA-B9F0-4352-A483-C4A18FF3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The external projection intervened on approximately 98.4–98.7% of steps. Smooth applied actions therefore did not establish smooth PPO proposals.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F8005-5558-442A-BD84-2755D7C9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0934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5D681-DD67-4BE2-AF88-48322058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435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C725-01A4-4B58-B456-827AEDA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proposed and applied actions separately; make no biological-gait claim without a predeclared contact-phase or validated gait-classification protocol.</a:t>
            </a:r>
          </a:p>
        </p:txBody>
      </p:sp>
      <p:sp>
        <p:nvSpPr>
          <p:cNvPr id="16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BCD562A8-F904-4689-96AC-3C647C7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Sources: Aractingi et al. (2023); observability-correction config; TEAM_PROGRESS_UPDATE; CURRENT_DEVELOPMENT_SYNTHESIS.</a:t>
            </a:r>
          </a:p>
        </p:txBody>
      </p:sp>
    </p:spTree>
    <p:extLst>
      <p:ext uri="{BB962C8B-B14F-4D97-AF65-F5344CB8AC3E}">
        <p14:creationId xmlns:p14="http://schemas.microsoft.com/office/powerpoint/2010/main" val="1346668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E55F11A-09E5-477C-B108-F2DDBC0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next gate is protocol freeze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5D75F1D5-642D-4515-9C3D-0934330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C31F-3164-422D-B109-10B5A3D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7818-EF10-4C8D-BE68-4C4A4027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Development analyses completed; the formal candidate is not yet engineering-validated; the scientific claim remains unresolved; held-out training is not authorised.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905500" y="2190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3E0B-707E-4F7B-882D-133CA8B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52387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F9AED-4988-4616-A922-D898F98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B7C1-8AB6-42F5-8D01-12F626BB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B8880-2AEB-4003-A081-9E5CA7B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Freeze the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8269B-C221-4B6A-81B9-AA735160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F072E039-5C55-4CDA-9235-71A87DA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Freeze behaviour and default-reward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0412A-DA68-44A9-89AF-CF17EA7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505A2434-7862-460C-AB44-43DF4E2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Freeze seeds, checkpoints, metrics and reruns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849CB-4E9B-4D13-8757-61A8760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48EEB13A-A25A-434A-8B85-734BECF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Freeze uncertainty, exclusions and stopping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F282-4002-414C-83F8-1729515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AF8F0-88CA-4582-BCEB-B4D60991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D9DF4-6C87-45EC-B8CC-D61C878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Implement, test, then authorise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CD6D4-E29E-40C2-B37B-D6728A5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1">
            <a:extLst xmlns:a="http://schemas.openxmlformats.org/drawingml/2006/main">
              <a:ext uri="{FF2B5EF4-FFF2-40B4-BE49-F238E27FC236}">
                <a16:creationId xmlns:a16="http://schemas.microsoft.com/office/drawing/2014/main" id="{4E26E176-C8BE-4274-882B-E983543A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 one reward package and constraint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CDACD-0647-4EDE-A862-B94397E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">
            <a:extLst xmlns:a="http://schemas.openxmlformats.org/drawingml/2006/main">
              <a:ext uri="{FF2B5EF4-FFF2-40B4-BE49-F238E27FC236}">
                <a16:creationId xmlns:a16="http://schemas.microsoft.com/office/drawing/2014/main" id="{932E1B47-0A35-4535-ACC6-7CE4D5CA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Implement wrapper; pass engineering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543EF-607F-4AEC-B711-CCB2822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3">
            <a:extLst xmlns:a="http://schemas.openxmlformats.org/drawingml/2006/main">
              <a:ext uri="{FF2B5EF4-FFF2-40B4-BE49-F238E27FC236}">
                <a16:creationId xmlns:a16="http://schemas.microsoft.com/office/drawing/2014/main" id="{480ED394-B4ED-412D-AADA-884798F5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Authorise the formal 2 × 2 only after freeze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7F82B-5AFC-4099-B724-660D6C37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TEAM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E9654-7C66-4D65-A4C0-9BC0950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Gait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6FF50-65A9-4BDD-9CDA-88DEABD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General stable locomotion or a specified gait family?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59743-F681-4B82-95A8-8EF77D61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992F0-C075-42F1-864A-8DBB7C3D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Is body shaping coherent enough for the final development gate?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B9CB9-5337-4FF8-BDB3-06F08D3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81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A2F01-D596-4DD4-BC9C-545B4CE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05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Use a percentage matrix only as a secondary view beside continuous metrics.</a:t>
            </a:r>
          </a:p>
        </p:txBody>
      </p:sp>
      <p:sp>
        <p:nvSpPr>
          <p:cNvPr id="33" name="short-source-label">
            <a:extLst xmlns:a="http://schemas.openxmlformats.org/drawingml/2006/main">
              <a:ext uri="{FF2B5EF4-FFF2-40B4-BE49-F238E27FC236}">
                <a16:creationId xmlns:a16="http://schemas.microsoft.com/office/drawing/2014/main" id="{AEE2E001-16B7-4837-AEA1-65AC636A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Project evidence: RESEARCH_DIRECTION_20260816; hybrid_intent_constraint_design_v1; PUBLIC_RELEASE_CONTENTS_20260816.</a:t>
            </a:r>
          </a:p>
        </p:txBody>
      </p:sp>
    </p:spTree>
    <p:extLst>
      <p:ext uri="{BB962C8B-B14F-4D97-AF65-F5344CB8AC3E}">
        <p14:creationId xmlns:p14="http://schemas.microsoft.com/office/powerpoint/2010/main" val="1039842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C67F035-8267-4028-8BDC-5A47EEE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References and project evidence</a:t>
            </a:r>
          </a:p>
        </p:txBody>
      </p:sp>
      <p:sp>
        <p:nvSpPr>
          <p:cNvPr id="2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B86E637A-0204-475B-B0C2-2E518A3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57200" y="1000125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9350A-CB0C-4B0E-AF51-0010D2E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57A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57A0"/>
                </a:solidFill>
                <a:latin typeface="Arial"/>
                <a:ea typeface="Arial"/>
                <a:cs typeface="Arial"/>
              </a:rPr>
              <a:t>External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44AC-BEAD-4E99-8DCF-464736CE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219700" cy="436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Farama Foundation (n.d.) ‘Ant’. Gymnasium documentation.</a:t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gymnasium.farama.org/environments/mujoco/ant/ (Accessed: 16 August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Skalse, J., Howe, N.H.R., Krasheninnikov, D. and Krueger, D. (2022) ‘Defining and Characterizing Reward Hacking’, NeurIPS, 35, pp. 9460–9471.</a:t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proceedings.neurips.cc/paper/2022/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Pan, A., Bhatia, K. and Steinhardt, J. (2022) ‘The Effects of Reward Misspecification: Mapping and Mitigating Misaligned Models’, ICLR.</a:t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arxiv.org/abs/2201.03544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096000" y="121920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98D3-C7BE-4981-AC34-AE2EF140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19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External and project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AD2A2-6127-4391-B71A-1AC88BE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1244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Raffin, A., Kober, J. and Stulp, F. (2022) ‘Smooth Exploration for Robotic Reinforcement Learning’, PMLR, 164, pp. 1634–1644.</a:t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proceedings.mlr.press/v164/raffin22a.html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Aractingi, M. et al. (2023) ‘Controlling the Solo12 quadruped robot with deep reinforcement learning’, Scientific Reports, 13, 11945.</a:t>
            </a:r>
          </a:p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doi.org/10.1038/s41598-023-38259-7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566FE-5C0F-4246-8517-0CCB0A0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Project snapshot · 16 August 2026 · base 2aa18d8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3249D-7EFF-4D8D-87F9-5E76D81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124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9E73D-FBD5-4DF9-8C13-9FC025E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0060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docs/</a:t>
            </a:r>
          </a:p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RESEARCH_DIRECTION_20260816.md</a:t>
            </a:r>
          </a:p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INTENDED_BEHAVIOUR_CONTRACT_V2_20260816.md</a:t>
            </a:r>
          </a:p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reports/</a:t>
            </a:r>
          </a:p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CURRENT_DEVELOPMENT_SYNTHESIS_20260816.md</a:t>
            </a:r>
          </a:p>
          <a:p xmlns:a="http://schemas.openxmlformats.org/drawingml/2006/main">
            <a:pPr algn="l">
              <a:defRPr sz="13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results/development_20260816/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B60D8-CF02-4CF6-8A26-D8A44267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45B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45B66"/>
                </a:solidFill>
                <a:latin typeface="Arial"/>
                <a:ea typeface="Arial"/>
                <a:cs typeface="Arial"/>
              </a:rPr>
              <a:t>The project snapshot is development evidence—not held-out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23933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2026-08-16T22:41:48.5030000Z</dcterms:created>
  <dcterms:modified xsi:type="dcterms:W3CDTF">2026-08-16T22:41:48.5030000Z</dcterms:modified>
</coreProperties>
</file>