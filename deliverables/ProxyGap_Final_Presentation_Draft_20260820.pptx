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see docs/FINAL_PRESENTATION_CONTENT_DESIGN_V2_20260820_CN.md for the timed script and evidence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8522\Documents\nn\ProxyGap_curve_reproduction_20260818\artifacts\dev\v4_pair0_multiobjective_full_map_video_v1_20260820\time_priority\v4_pair0_time_priority_seed_690223864_full_map_relief_v1_final_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7">
              <a:alpha val="67000"/>
            </a:srgbClr>
          </a:solidFill>
          <a:ln w="12700">
            <a:solidFill>
              <a:srgbClr val="0711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8138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reward shaping to verified terrain navigation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94944" y="16733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B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two-stage PPO–Ant study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94944" y="4892040"/>
            <a:ext cx="2450592" cy="384048"/>
          </a:xfrm>
          <a:prstGeom prst="roundRect">
            <a:avLst>
              <a:gd name="adj" fmla="val 42857"/>
            </a:avLst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490118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6 formal completions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4892040"/>
            <a:ext cx="1234440" cy="384048"/>
          </a:xfrm>
          <a:prstGeom prst="roundRect">
            <a:avLst>
              <a:gd name="adj" fmla="val 42857"/>
            </a:avLst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3552" y="49011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falls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36008" y="4892040"/>
            <a:ext cx="2331720" cy="384048"/>
          </a:xfrm>
          <a:prstGeom prst="roundRect">
            <a:avLst>
              <a:gd name="adj" fmla="val 42857"/>
            </a:avLst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49011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sustained slip events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" y="54132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frozen map · candidate-bank near-optimal · not unseen-map generalisation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38944" y="1645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A Pinyin]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4944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D8E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formal result, 20 Aug 2026; video manifest 60498def…c024.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1320272" y="6446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stages increased task complexity while retaining one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A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reward history; terrain protocols; final V3 system report.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493776" cy="493776"/>
          </a:xfrm>
          <a:prstGeom prst="ellipse">
            <a:avLst/>
          </a:prstGeom>
          <a:solidFill>
            <a:srgbClr val="65717D"/>
          </a:solidFill>
          <a:ln w="12700">
            <a:solidFill>
              <a:srgbClr val="6571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" y="2761488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761488"/>
            <a:ext cx="73152" cy="2057400"/>
          </a:xfrm>
          <a:prstGeom prst="rect">
            <a:avLst/>
          </a:prstGeom>
          <a:solidFill>
            <a:srgbClr val="65717D"/>
          </a:solidFill>
          <a:ln w="12700">
            <a:solidFill>
              <a:srgbClr val="6571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V1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2752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control-cost and reward attempts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discovery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499616" y="2121408"/>
            <a:ext cx="2816352" cy="0"/>
          </a:xfrm>
          <a:prstGeom prst="line">
            <a:avLst/>
          </a:prstGeom>
          <a:noFill/>
          <a:ln w="22860">
            <a:solidFill>
              <a:srgbClr val="2E6E9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493776" cy="493776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952" y="2761488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7952" y="2761488"/>
            <a:ext cx="73152" cy="2057400"/>
          </a:xfrm>
          <a:prstGeom prst="rect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87121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/ Project V2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0" y="3264408"/>
            <a:ext cx="2752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Directed flat locomotion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Reward, posture and contact diagnostics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65776" y="2121408"/>
            <a:ext cx="2816352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46720" y="1874520"/>
            <a:ext cx="493776" cy="493776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54112" y="2761488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54112" y="2761488"/>
            <a:ext cx="73152" cy="2057400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87121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/ Project V3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55280" y="3264408"/>
            <a:ext cx="2752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terrain mission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PAIR0, slopes, turning, planning and preferences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1792" y="5257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057400" y="5230368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locomotor progress from stable direction control to safe, preference-aware completion on continuous terrain?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defensible baseline is locally reproduced Ant-v5 + PPO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A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Farama Foundation (n.d.); Schulman et al. (2016, 2017); Fu et al. (2022).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9718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2240280"/>
          </a:xfrm>
          <a:prstGeom prst="rect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27048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Ant-v5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1920240"/>
            <a:ext cx="26609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definition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torque actions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forward-locomotion objective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90288" y="1417320"/>
            <a:ext cx="29718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417320"/>
            <a:ext cx="73152" cy="2240280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527048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91456" y="1920240"/>
            <a:ext cx="26609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Algorithmic provenance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Clipped surrogate policy-gradient family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budgets and seeds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94192" y="1417320"/>
            <a:ext cx="29718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1417320"/>
            <a:ext cx="73152" cy="2240280"/>
          </a:xfrm>
          <a:prstGeom prst="rect">
            <a:avLst/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27048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baseline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1920240"/>
            <a:ext cx="26609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Ant-v5 + PPO reproduction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comparator for Stage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lineage for Stage 2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767328" y="2542032"/>
            <a:ext cx="685800" cy="0"/>
          </a:xfrm>
          <a:prstGeom prst="line">
            <a:avLst/>
          </a:prstGeom>
          <a:noFill/>
          <a:ln w="22860">
            <a:solidFill>
              <a:srgbClr val="65717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26096" y="2542032"/>
            <a:ext cx="621792" cy="0"/>
          </a:xfrm>
          <a:prstGeom prst="line">
            <a:avLst/>
          </a:prstGeom>
          <a:noFill/>
          <a:ln w="22860">
            <a:solidFill>
              <a:srgbClr val="65717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4160520"/>
            <a:ext cx="9921240" cy="1143000"/>
          </a:xfrm>
          <a:prstGeom prst="roundRect">
            <a:avLst>
              <a:gd name="adj" fmla="val 6400"/>
            </a:avLst>
          </a:prstGeom>
          <a:solidFill>
            <a:srgbClr val="E8F1F1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3434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52928" y="4224528"/>
            <a:ext cx="7790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Farama is documentation, not the baseline paper. Published studies anchor method choices; matched local runs support numerical claims.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intent was separated from the reward optimised by PPO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B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Ng, Harada and Russell (1999); Pan, Bhatia and Steinhardt (2022); Skalse et al. (2022).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100584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2E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Optimised reward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1527048"/>
            <a:ext cx="7360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· direction · posture · action rate · landing · support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1417320" y="2761488"/>
            <a:ext cx="9235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16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871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Independent diagnostics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86200" y="2871216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efficiency · heading error · tilt · contact sequence · mechanical proxies</a:t>
            </a:r>
            <a:endParaRPr lang="en-US" sz="1530" dirty="0"/>
          </a:p>
        </p:txBody>
      </p:sp>
      <p:sp>
        <p:nvSpPr>
          <p:cNvPr id="13" name="Shape 11"/>
          <p:cNvSpPr/>
          <p:nvPr/>
        </p:nvSpPr>
        <p:spPr>
          <a:xfrm>
            <a:off x="1874520" y="4105656"/>
            <a:ext cx="8321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B84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215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Hard mission gate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4215384"/>
            <a:ext cx="5623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1.5 m → 2 m dwell for 2 s → finite + no fall/torso/sustained non-foot/slip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1828800" y="5623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trajectories that passed validity and safety were ranked by time and work proxy.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reshaped locomotion without changing the 8-D action space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B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Stage-1 reward history; Raffin, Kober and Stulp (2022); Aractingi et al. (2023).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444752"/>
            <a:ext cx="26151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444752"/>
            <a:ext cx="73152" cy="2011680"/>
          </a:xfrm>
          <a:prstGeom prst="rect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motion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and forward-direction tracking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02152" y="1444752"/>
            <a:ext cx="26151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1444752"/>
            <a:ext cx="73152" cy="2011680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55448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1947672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vertical, angular and signed-pitch terms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91072" y="1444752"/>
            <a:ext cx="26151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444752"/>
            <a:ext cx="73152" cy="2011680"/>
          </a:xfrm>
          <a:prstGeom prst="rect">
            <a:avLst/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5448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quality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1947672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action-rate and saturation diagnostics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79992" y="1444752"/>
            <a:ext cx="26151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9992" y="1444752"/>
            <a:ext cx="73152" cy="2011680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55448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1947672"/>
            <a:ext cx="23042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foot-landing and support diagnostics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4069080"/>
            <a:ext cx="10287000" cy="1078992"/>
          </a:xfrm>
          <a:prstGeom prst="roundRect">
            <a:avLst>
              <a:gd name="adj" fmla="val 6780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43708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D7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304288" y="4224528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 body · 8 torque actions · matched PPO environment and budget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2688" y="55046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external action limiter is a controller intervention, not a learned biological gait mechanism.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improved selected diagnostics—not a biologically verified gait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B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Stage-1 development reports; Fu et al. (2022).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389888"/>
            <a:ext cx="5248656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89888"/>
            <a:ext cx="73152" cy="2999232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4996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and smoothness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0976" y="1892808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roughness   0.0139 → 0.00985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speed             0.844 → 0.918 m/s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efficiency         0.809 → 0.857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9632" y="1389888"/>
            <a:ext cx="5248656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389888"/>
            <a:ext cx="73152" cy="2999232"/>
          </a:xfrm>
          <a:prstGeom prst="rect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996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coordination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892808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take-offs         21.1 → 3.77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No-floor fraction       0.526 → 0.465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speed              0.961 → 0.931 m/s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24712" y="4846320"/>
            <a:ext cx="9939528" cy="987552"/>
          </a:xfrm>
          <a:prstGeom prst="roundRect">
            <a:avLst>
              <a:gd name="adj" fmla="val 7407"/>
            </a:avLst>
          </a:prstGeom>
          <a:solidFill>
            <a:srgbClr val="F5E9E4"/>
          </a:solidFill>
          <a:ln w="15240">
            <a:solidFill>
              <a:srgbClr val="B84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50749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4919472"/>
            <a:ext cx="8092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walk looked more coordinated, but duty factor, phase and contact ordering were not frozen as biological validation metrics.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exposed three different failure layers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C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Miki et al. (2022); PAIR0 V3, V5 turn and post-seal map evaluations.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" y="1417320"/>
            <a:ext cx="3383280" cy="3639312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417320"/>
            <a:ext cx="73152" cy="3639312"/>
          </a:xfrm>
          <a:prstGeom prst="rect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270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level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0723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and locomotion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135-D observation = 122-D locomotion + 13-D local terrain preview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PAIR0 improved distal support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383280" cy="3639312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3639312"/>
          </a:xfrm>
          <a:prstGeom prst="rect">
            <a:avLst/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5270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 level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1920240"/>
            <a:ext cx="30723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and waypoint following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V5: slope PASS, turn FAIL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left/right response remained checkpoint-dependent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1417320"/>
            <a:ext cx="3383280" cy="3639312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417320"/>
            <a:ext cx="73152" cy="3639312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5270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level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66176" y="1920240"/>
            <a:ext cx="30723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route selection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Direct-goal PAIR0 best progress: 14.51 m in 600 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policy never saw the full map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5504688"/>
            <a:ext cx="10287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Improving support did not automatically solve steering or route choice.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PAIR0 improved support and tested slope safety—but airborne gait remained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C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PAIR0 L2b V3 and slope-boundary manifests; Lee et al. (2020).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24.04%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2532888" y="1627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3.21%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143000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full-control zero-foot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0.353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2532888" y="31089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1.344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143000" y="3767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supporting feet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38928" y="1389888"/>
            <a:ext cx="6153912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1389888"/>
            <a:ext cx="73152" cy="3456432"/>
          </a:xfrm>
          <a:prstGeom prst="rect">
            <a:avLst/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1499616"/>
            <a:ext cx="5843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 boundary (tested grid)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0096" y="1892808"/>
            <a:ext cx="5843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Uphill: contiguous pass through 12°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16°: first tested failure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Downhill: non-monotonic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/ 55 episodes: 0 fall, torso-ground, sustained non-foot or sustained corrected-slip events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541324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12° is not a physical maximum, and PAIR0 is not a claim that MuJoCo was “fixed”.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successful solution was hierarchical—not another reward term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C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checkpoint screen, slope screen and waypoint-route evidence.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993392"/>
            <a:ext cx="2057400" cy="1170432"/>
          </a:xfrm>
          <a:prstGeom prst="roundRect">
            <a:avLst>
              <a:gd name="adj" fmla="val 5469"/>
            </a:avLst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30552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1025×1025 map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2551176" y="2578608"/>
            <a:ext cx="329184" cy="0"/>
          </a:xfrm>
          <a:prstGeom prst="line">
            <a:avLst/>
          </a:prstGeom>
          <a:noFill/>
          <a:ln w="22860">
            <a:solidFill>
              <a:srgbClr val="65717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993392"/>
            <a:ext cx="2148840" cy="1170432"/>
          </a:xfrm>
          <a:prstGeom prst="roundRect">
            <a:avLst>
              <a:gd name="adj" fmla="val 5469"/>
            </a:avLst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13055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route / speed candidates</a:t>
            </a:r>
            <a:endParaRPr lang="en-US" sz="1530" dirty="0"/>
          </a:p>
        </p:txBody>
      </p:sp>
      <p:sp>
        <p:nvSpPr>
          <p:cNvPr id="12" name="Shape 10"/>
          <p:cNvSpPr/>
          <p:nvPr/>
        </p:nvSpPr>
        <p:spPr>
          <a:xfrm>
            <a:off x="5175504" y="2578608"/>
            <a:ext cx="329184" cy="0"/>
          </a:xfrm>
          <a:prstGeom prst="line">
            <a:avLst/>
          </a:prstGeom>
          <a:noFill/>
          <a:ln w="22860">
            <a:solidFill>
              <a:srgbClr val="65717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96128" y="1993392"/>
            <a:ext cx="1965960" cy="1170432"/>
          </a:xfrm>
          <a:prstGeom prst="roundRect">
            <a:avLst>
              <a:gd name="adj" fmla="val 5469"/>
            </a:avLst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130552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 waypoint lookahead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7616952" y="2578608"/>
            <a:ext cx="329184" cy="0"/>
          </a:xfrm>
          <a:prstGeom prst="line">
            <a:avLst/>
          </a:prstGeom>
          <a:noFill/>
          <a:ln w="22860">
            <a:solidFill>
              <a:srgbClr val="65717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37576" y="1993392"/>
            <a:ext cx="1856232" cy="1170432"/>
          </a:xfrm>
          <a:prstGeom prst="roundRect">
            <a:avLst>
              <a:gd name="adj" fmla="val 5469"/>
            </a:avLst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2130552"/>
            <a:ext cx="1673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Archived V4 expert</a:t>
            </a:r>
            <a:endParaRPr lang="en-US" sz="1530" dirty="0"/>
          </a:p>
        </p:txBody>
      </p:sp>
      <p:sp>
        <p:nvSpPr>
          <p:cNvPr id="18" name="Shape 16"/>
          <p:cNvSpPr/>
          <p:nvPr/>
        </p:nvSpPr>
        <p:spPr>
          <a:xfrm>
            <a:off x="9948672" y="2578608"/>
            <a:ext cx="329184" cy="0"/>
          </a:xfrm>
          <a:prstGeom prst="line">
            <a:avLst/>
          </a:prstGeom>
          <a:noFill/>
          <a:ln w="22860">
            <a:solidFill>
              <a:srgbClr val="65717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69296" y="1993392"/>
            <a:ext cx="1856232" cy="1170432"/>
          </a:xfrm>
          <a:prstGeom prst="roundRect">
            <a:avLst>
              <a:gd name="adj" fmla="val 5469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60736" y="2130552"/>
            <a:ext cx="1673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joint torques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704088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7180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command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135-D local sensing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736592"/>
            <a:ext cx="106527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001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en route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78608" y="48646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Naïve V4 / PAIR0 action blending fell after 15.3 s; the final architecture kept contact and planning roles explicit.</a:t>
            </a:r>
            <a:endParaRPr lang="en-US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preferences selected two routes from 15 feasible candidates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D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candidate-selection JSON 212b7886…f20b; Fu et al. (2022) for mechanical-energy context.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C:\Users\18522\Documents\nn\ProxyGap_curve_reproduction_20260818\docs\figures\v4_multiobjective_final\candidate_time_work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61872"/>
            <a:ext cx="7452360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66760" y="1353312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1353312"/>
            <a:ext cx="73152" cy="1005840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7928" y="1463040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0.8 / 0.2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67928" y="1856232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s1p50_t1p00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366760" y="2551176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66760" y="2551176"/>
            <a:ext cx="73152" cy="1005840"/>
          </a:xfrm>
          <a:prstGeom prst="rect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67928" y="266090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0.5 / 0.5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67928" y="3054096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route contract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366760" y="374904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66760" y="3749040"/>
            <a:ext cx="73152" cy="1005840"/>
          </a:xfrm>
          <a:prstGeom prst="rect">
            <a:avLst/>
          </a:prstGeom>
          <a:solidFill>
            <a:srgbClr val="D8902F"/>
          </a:solidFill>
          <a:ln w="12700">
            <a:solidFill>
              <a:srgbClr val="D890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67928" y="3858768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0.2 / 0.8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67928" y="425196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balanced_speed_0p50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11312" y="513892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= wT(T/Tmin) + wE(W+/W+min)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56448" y="56692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Near-optimal within the candidate bank; not a global optimum.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six formal episodes reached the goal without sustained slip events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D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formal manifest 0bf2817c…8d83; video manifest 60498def…c024.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C:\Users\18522\Documents\nn\ProxyGap_curve_reproduction_20260818\docs\figures\v4_multiobjective_final\formal_per_seed_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7059168" cy="3319272"/>
          </a:xfrm>
          <a:prstGeom prst="rect">
            <a:avLst/>
          </a:prstGeom>
        </p:spPr>
      </p:pic>
      <p:pic>
        <p:nvPicPr>
          <p:cNvPr id="8" name="Image 1" descr="C:\Users\18522\Documents\nn\ProxyGap_curve_reproduction_20260818\artifacts\dev\v4_pair0_multiobjective_full_map_video_v1_20260820\balanced\v4_pair0_balanced_seed_1864999454_full_map_relief_v1_final_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335024"/>
            <a:ext cx="3822192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45552" y="352958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2: balanced route · exact formal replay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4800600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49560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balanced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395728" y="489204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 · 264.55 s · 55.65 kJ proxy · 153.23 m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5971032" y="49560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93408" y="48920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 · 259.37 s · 55.13 kJ proxy · 152.14 m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9985248" y="4864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falls · 0 sustained slip events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78992" y="5971032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Airborne exposure remained: representative runs had 9.25–10.02% full-control zero-foot intervals.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provenance and comparator literature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D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URLs/DOIs are retained in the report bibliography; accessed 20 Aug 2026 where applicable.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5349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Aractingi et al. (2023) Scientific Reports 13, 11945. doi:10.1038/s41598-023-38259-7.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Farama Foundation (n.d.) Ant. Gymnasium Documentation.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 et al. (2022) PMLR 164, pp. 928–937.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et al. (2020) Science Robotics 5(47), eabc5986.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Miki et al. (2022) Science Robotics 7(62), eabk2822.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Ng, Harada and Russell (1999) ICML, pp. 278–287.</a:t>
            </a:r>
            <a:endParaRPr lang="en-US" sz="1410" dirty="0"/>
          </a:p>
        </p:txBody>
      </p:sp>
      <p:sp>
        <p:nvSpPr>
          <p:cNvPr id="8" name="Shape 6"/>
          <p:cNvSpPr/>
          <p:nvPr/>
        </p:nvSpPr>
        <p:spPr>
          <a:xfrm>
            <a:off x="6089904" y="1298448"/>
            <a:ext cx="0" cy="4846320"/>
          </a:xfrm>
          <a:prstGeom prst="line">
            <a:avLst/>
          </a:prstGeom>
          <a:noFill/>
          <a:ln w="12700">
            <a:solidFill>
              <a:srgbClr val="CCD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335024"/>
            <a:ext cx="5074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Pan, Bhatia and Steinhardt (2022) ICLR 2022.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Raffin, Kober and Stulp (2022) PMLR 164, pp. 1634–1644.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Schulman et al. (2016) ICLR.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Schulman et al. (2017) arXiv:1707.06347.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Skalse et al. (2022) NeurIPS 35.</a:t>
            </a:r>
            <a:endParaRPr lang="en-US" sz="1410" dirty="0"/>
          </a:p>
          <a:p>
            <a:pPr indent="0" marL="0">
              <a:buNone/>
            </a:pP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configurations, raw traces, videos and SHA-256 manifests are listed in the evidence appendix.</a:t>
            </a:r>
            <a:endParaRPr lang="en-US" sz="14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24128"/>
            <a:ext cx="10972800" cy="0"/>
          </a:xfrm>
          <a:prstGeom prst="line">
            <a:avLst/>
          </a:prstGeom>
          <a:noFill/>
          <a:ln w="22860">
            <a:solidFill>
              <a:srgbClr val="16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6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established—and where does the evidence stop?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12680" y="1463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[Speaker D Pinyin]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51967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final report and evidence manifests, 20 Aug 2026.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320272" y="64556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325880"/>
            <a:ext cx="5413248" cy="37673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325880"/>
            <a:ext cx="73152" cy="37673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35608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5102352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selected Stage-1 motion diagnostics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PAIR0 support under the frozen model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tested slope boundaries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6/6 known-map completion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exact replay and full video decode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7648" y="1325880"/>
            <a:ext cx="5138928" cy="37673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CCD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325880"/>
            <a:ext cx="73152" cy="3767328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4356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established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28816" y="1828800"/>
            <a:ext cx="4828032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biologically natural gait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unseen-map generalisation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independent training-seed robustness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electrical energy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026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continuous global optimum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54223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architectural: auditable failures revealed the layers required for reliable completion.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25112" y="5971032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C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Southwest Jiaotong University–Leeds Joint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reward shaping to hierarchical terrain navigation</dc:title>
  <dc:subject>Final 15-minute group presentation draft</dc:subject>
  <dc:creator>ProxyGap project team</dc:creator>
  <cp:lastModifiedBy>ProxyGap project team</cp:lastModifiedBy>
  <cp:revision>1</cp:revision>
  <dcterms:created xsi:type="dcterms:W3CDTF">2026-08-19T23:33:25Z</dcterms:created>
  <dcterms:modified xsi:type="dcterms:W3CDTF">2026-08-19T23:33:25Z</dcterms:modified>
</cp:coreProperties>
</file>